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3" r:id="rId7"/>
    <p:sldId id="268" r:id="rId8"/>
    <p:sldId id="270" r:id="rId9"/>
    <p:sldId id="272" r:id="rId10"/>
    <p:sldId id="273" r:id="rId11"/>
    <p:sldId id="274" r:id="rId12"/>
    <p:sldId id="265" r:id="rId13"/>
    <p:sldId id="266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itchFamily="2" charset="0"/>
      <p:regular r:id="rId20"/>
      <p:bold r:id="rId21"/>
      <p:italic r:id="rId22"/>
      <p:boldItalic r:id="rId23"/>
    </p:embeddedFont>
    <p:embeddedFont>
      <p:font typeface="Poppins SemiBold" panose="020B0604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95"/>
    <p:restoredTop sz="94640"/>
  </p:normalViewPr>
  <p:slideViewPr>
    <p:cSldViewPr snapToGrid="0">
      <p:cViewPr>
        <p:scale>
          <a:sx n="76" d="100"/>
          <a:sy n="76" d="100"/>
        </p:scale>
        <p:origin x="176" y="8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A84F115E-1FE9-B4AC-9BB7-8C9B901C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98F9A665-561E-D1F3-1AC7-43BEF6E998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A77BD7D7-2EDA-5B18-FA07-FE11B3DD5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9829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E42E3645-97CD-6A60-C776-F2E508886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9232414F-37EA-9C77-5C1E-7B656BFC2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B4688D06-AE1D-8CB8-E8A9-4BE1676A0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234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F7462512-E13A-B699-21AE-2D70F16F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A151722C-C40E-C469-C648-B1564A840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ADB6CEF7-1ED6-E8AA-B0DF-8329F072D8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3424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FFA41272-1B18-65D5-99BC-9A8B9F6D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74C2AAE4-EC5E-EC13-583C-4D963CA9F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EA1079C1-8729-337B-7B39-9DD5D1308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7870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2127BD1A-5E81-26C1-6F97-BCDC7823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76D68611-F8EE-4529-DB83-1D67842E7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D3936DDE-B623-C7FE-C3DB-C8FDB0A98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96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B13CDF45-F14B-B0D9-3207-BD1E2FBD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2BAF8561-6FF7-9A3C-1631-E688CEC2A9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4D0BC4CD-E2E8-C697-071F-35DBAF064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489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095648"/>
            <a:ext cx="9001125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COMPAS Algorithm Fairness Analysis: A Logistic Regression Approach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206031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Mitigating the racial disparity gap to achieve an equitable recidivism risk assessment.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38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31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95325" y="19431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09625" y="1891968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Introduction to COMPAS: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proprietary risk assessment tool widely used to predict a defendant's likelihood of recidivism.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695325" y="30480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000251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Racial Inequality: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Research indicates significant systemic bias, specifically a glaring discrepancy in False Positive Rates (FPR) between Black and White defendants.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695325" y="433851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257551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Optimization Goal: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restructure the algorithm and significantly weaken the predictive gap between races, all while maintaining overall model accuracy.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Background &amp; Core Objectives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10CCA21-E680-20D6-40C1-817E20914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1143000"/>
            <a:ext cx="4254500" cy="32385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5F4114-580C-B956-A0C3-240B50967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5075" y="4381500"/>
            <a:ext cx="4254500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93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82496" y="1285875"/>
            <a:ext cx="5049057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2496" y="3437274"/>
            <a:ext cx="5049056" cy="19440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2489250" y="1586894"/>
            <a:ext cx="161020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Model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304039" y="5096934"/>
            <a:ext cx="400961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Logistic Regression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complex black-box algorithms, it outputs clear probabilities and transparent relationships.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7561859" y="1476717"/>
            <a:ext cx="137017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Rationale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5850228" y="1855827"/>
            <a:ext cx="512921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Better Interpretability</a:t>
            </a:r>
            <a:endParaRPr lang="en-US" sz="1500" b="0" i="0" u="none" strike="noStrike" cap="none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Highly robust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against overfitting, </a:t>
            </a:r>
            <a:endParaRPr lang="en-US" sz="1500" dirty="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P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articularly suitable for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small to medium-sized datasets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6982487" y="3585388"/>
            <a:ext cx="25623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Source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068483" y="4094797"/>
            <a:ext cx="4413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zh-CN" alt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standardized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CSV file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provided via the course, containing anonymized defendant features and their verified two-year recidivism records.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Methodology &amp; Data Source</a:t>
            </a: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7F176D4-C546-07AC-BF94-EEFE787E1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39" y="1956251"/>
            <a:ext cx="4590229" cy="31406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457950" y="33194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80449" y="1388938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Split: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80/20 train-test split mechanism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457950" y="4071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80449" y="1996367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Performance: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457950" y="51292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059613" y="3919537"/>
            <a:ext cx="50482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Sample Weighting: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Applied strategic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Sample Weights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during training to penalize predictive biases caused by class imbalances. 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Our Model Performance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6CC42C8-AFD9-A530-26A6-632EAF6D0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7" y="1033165"/>
            <a:ext cx="6812175" cy="319117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3F1F7C8-AC46-D9CC-FB64-A8BDF8B77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7" y="3960229"/>
            <a:ext cx="6812175" cy="280973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745BFDE8-7D89-401A-1367-D27546475C38}"/>
              </a:ext>
            </a:extLst>
          </p:cNvPr>
          <p:cNvGrpSpPr/>
          <p:nvPr/>
        </p:nvGrpSpPr>
        <p:grpSpPr>
          <a:xfrm>
            <a:off x="7309589" y="2386466"/>
            <a:ext cx="4389970" cy="909378"/>
            <a:chOff x="7282069" y="1545372"/>
            <a:chExt cx="4389970" cy="90937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7A5E44D-1206-44E1-E020-4BE7A62DB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46439" y="1545372"/>
              <a:ext cx="1625600" cy="904875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0A10529-34C5-DA8A-62A6-E0C298D63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82069" y="1545372"/>
              <a:ext cx="2781300" cy="9093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E41DF053-6DEE-EFFD-49A8-48DDE4CC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>
            <a:extLst>
              <a:ext uri="{FF2B5EF4-FFF2-40B4-BE49-F238E27FC236}">
                <a16:creationId xmlns:a16="http://schemas.microsoft.com/office/drawing/2014/main" id="{C0BB7DB7-ABF2-0FD2-8EBF-CFD9585222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ED357EAB-97A1-5922-A33A-788A09C602A7}"/>
              </a:ext>
            </a:extLst>
          </p:cNvPr>
          <p:cNvSpPr txBox="1"/>
          <p:nvPr/>
        </p:nvSpPr>
        <p:spPr>
          <a:xfrm>
            <a:off x="6457950" y="4071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4296B011-D34D-26D6-003F-1B37E9514248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Compare with COMPAS</a:t>
            </a:r>
            <a:endParaRPr lang="en-US" altLang="zh-CN" sz="32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135D9F-6DDA-BC59-D136-BC922874B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7" y="1033165"/>
            <a:ext cx="6049963" cy="28341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8B0FA3-BEE5-B832-4FF7-EC3307FF2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345" y="3648725"/>
            <a:ext cx="6269778" cy="29370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4CA5FEC-B9F2-3A4F-4B2F-2CC7DC86D939}"/>
              </a:ext>
            </a:extLst>
          </p:cNvPr>
          <p:cNvSpPr txBox="1"/>
          <p:nvPr/>
        </p:nvSpPr>
        <p:spPr>
          <a:xfrm>
            <a:off x="7145867" y="1337733"/>
            <a:ext cx="38331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AUC, Accuracy, FPR, FNR ……</a:t>
            </a:r>
          </a:p>
          <a:p>
            <a:pPr algn="ctr"/>
            <a:r>
              <a:rPr kumimoji="1" lang="en-US" altLang="zh-CN" sz="2800" dirty="0"/>
              <a:t>Useful?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4259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628775" y="1960215"/>
            <a:ext cx="8686800" cy="363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True algorithmic fairness is not about ignoring race, but strictly balancing the False Positive Rate (FPR) and False Negative Rate (FNR) across demographics to substantially close the predictive gap.</a:t>
            </a:r>
            <a:endParaRPr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1209675" y="2341215"/>
            <a:ext cx="4191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BFDBF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0563225" y="4960590"/>
            <a:ext cx="4191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BFDBF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Defining True Fairness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1F219EBA-4390-D410-58E5-1199BCE2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>
            <a:extLst>
              <a:ext uri="{FF2B5EF4-FFF2-40B4-BE49-F238E27FC236}">
                <a16:creationId xmlns:a16="http://schemas.microsoft.com/office/drawing/2014/main" id="{B341F800-936C-CC77-6EC7-5B6308D58E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25F633AF-0863-D39E-7D1A-CC9703232AF5}"/>
              </a:ext>
            </a:extLst>
          </p:cNvPr>
          <p:cNvSpPr txBox="1"/>
          <p:nvPr/>
        </p:nvSpPr>
        <p:spPr>
          <a:xfrm>
            <a:off x="571499" y="571500"/>
            <a:ext cx="74887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Compare with COMPAS</a:t>
            </a:r>
            <a:r>
              <a:rPr lang="zh-CN" alt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altLang="zh-CN" sz="3000" b="1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-- Fairness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82A88C7-6223-DDA9-1027-5DD3665CA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30431"/>
            <a:ext cx="10816759" cy="446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51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6E9BF990-0717-2E8D-B56C-33F5D048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>
            <a:extLst>
              <a:ext uri="{FF2B5EF4-FFF2-40B4-BE49-F238E27FC236}">
                <a16:creationId xmlns:a16="http://schemas.microsoft.com/office/drawing/2014/main" id="{2047FFA5-D674-5F2E-5112-34355156A9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75585095-EA3B-C67B-1D24-A5793FE4A131}"/>
              </a:ext>
            </a:extLst>
          </p:cNvPr>
          <p:cNvSpPr txBox="1"/>
          <p:nvPr/>
        </p:nvSpPr>
        <p:spPr>
          <a:xfrm>
            <a:off x="571500" y="571500"/>
            <a:ext cx="5524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About Threshold…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74D9F4F-265D-0839-0DE4-D67AE679D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61" y="1339538"/>
            <a:ext cx="10567277" cy="411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4042467C-AA7E-CFE9-B0C7-9F07701E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>
            <a:extLst>
              <a:ext uri="{FF2B5EF4-FFF2-40B4-BE49-F238E27FC236}">
                <a16:creationId xmlns:a16="http://schemas.microsoft.com/office/drawing/2014/main" id="{2BB53108-CD4D-DAE2-A436-A4D4FB9224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F7B01304-C563-D01E-5093-686AF8EDAFCB}"/>
              </a:ext>
            </a:extLst>
          </p:cNvPr>
          <p:cNvSpPr txBox="1"/>
          <p:nvPr/>
        </p:nvSpPr>
        <p:spPr>
          <a:xfrm>
            <a:off x="571500" y="571500"/>
            <a:ext cx="55245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About Threshold…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A61B7B-DFF7-B369-9BE1-FFE324C1B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28629"/>
            <a:ext cx="6489700" cy="43141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17DC9A-F8D3-8D22-E373-C213EE2BE498}"/>
              </a:ext>
            </a:extLst>
          </p:cNvPr>
          <p:cNvSpPr txBox="1"/>
          <p:nvPr/>
        </p:nvSpPr>
        <p:spPr>
          <a:xfrm>
            <a:off x="7772400" y="1270000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这个地方要介绍一下方法。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1B043D-6C08-B922-4A5F-4829C2FC6258}"/>
              </a:ext>
            </a:extLst>
          </p:cNvPr>
          <p:cNvSpPr txBox="1"/>
          <p:nvPr/>
        </p:nvSpPr>
        <p:spPr>
          <a:xfrm>
            <a:off x="8009467" y="5604933"/>
            <a:ext cx="2536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所以最后用的</a:t>
            </a:r>
            <a:r>
              <a:rPr kumimoji="1" lang="en-US" altLang="zh-CN" dirty="0"/>
              <a:t>threshold</a:t>
            </a:r>
            <a:r>
              <a:rPr kumimoji="1" lang="zh-CN" altLang="en-US" dirty="0"/>
              <a:t>是</a:t>
            </a:r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40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2AF5EBBA-4E28-66E4-7F66-F3FCC4FC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>
            <a:extLst>
              <a:ext uri="{FF2B5EF4-FFF2-40B4-BE49-F238E27FC236}">
                <a16:creationId xmlns:a16="http://schemas.microsoft.com/office/drawing/2014/main" id="{8FDF6E6A-4E80-1502-6B95-B94030E156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9B0CAD14-F393-84DC-266E-6F34144527B3}"/>
              </a:ext>
            </a:extLst>
          </p:cNvPr>
          <p:cNvSpPr txBox="1"/>
          <p:nvPr/>
        </p:nvSpPr>
        <p:spPr>
          <a:xfrm>
            <a:off x="571499" y="571500"/>
            <a:ext cx="74379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Poppins"/>
                <a:cs typeface="Poppins"/>
                <a:sym typeface="Poppins"/>
              </a:rPr>
              <a:t>Interpretability and Explainability</a:t>
            </a:r>
            <a:endParaRPr dirty="0"/>
          </a:p>
        </p:txBody>
      </p:sp>
      <p:sp>
        <p:nvSpPr>
          <p:cNvPr id="9" name="Google Shape;131;p16">
            <a:extLst>
              <a:ext uri="{FF2B5EF4-FFF2-40B4-BE49-F238E27FC236}">
                <a16:creationId xmlns:a16="http://schemas.microsoft.com/office/drawing/2014/main" id="{2BA8EBCB-D61F-B992-88B2-AA6477A0E475}"/>
              </a:ext>
            </a:extLst>
          </p:cNvPr>
          <p:cNvSpPr txBox="1"/>
          <p:nvPr/>
        </p:nvSpPr>
        <p:spPr>
          <a:xfrm>
            <a:off x="5845915" y="1322288"/>
            <a:ext cx="4906752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</a:t>
            </a:r>
            <a:r>
              <a:rPr lang="zh-CN" alt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zh-CN" sz="1800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prediction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" altLang="zh-CN" sz="1800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P(violent=1)): 0.3926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CN" sz="1800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	           P(non-violent=1)): 0.3322 </a:t>
            </a:r>
            <a:br>
              <a:rPr lang="en" altLang="zh-CN" sz="1800" dirty="0"/>
            </a:br>
            <a:endParaRPr sz="1800" dirty="0"/>
          </a:p>
        </p:txBody>
      </p:sp>
      <p:sp>
        <p:nvSpPr>
          <p:cNvPr id="10" name="Google Shape;131;p16">
            <a:extLst>
              <a:ext uri="{FF2B5EF4-FFF2-40B4-BE49-F238E27FC236}">
                <a16:creationId xmlns:a16="http://schemas.microsoft.com/office/drawing/2014/main" id="{61E9548D-EA8D-B641-2D2D-D864268ADFE4}"/>
              </a:ext>
            </a:extLst>
          </p:cNvPr>
          <p:cNvSpPr txBox="1"/>
          <p:nvPr/>
        </p:nvSpPr>
        <p:spPr>
          <a:xfrm>
            <a:off x="5845915" y="2354863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 Data Set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Did not recidivate in 2 years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	      </a:t>
            </a:r>
            <a:r>
              <a:rPr lang="en-US" sz="18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(two_year</a:t>
            </a:r>
            <a:r>
              <a:rPr lang="en-US" sz="1800" i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_recid = 0)</a:t>
            </a:r>
            <a:endParaRPr sz="1800" i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10A4F07-1F92-DEFD-E243-741F8590E44C}"/>
              </a:ext>
            </a:extLst>
          </p:cNvPr>
          <p:cNvGrpSpPr/>
          <p:nvPr/>
        </p:nvGrpSpPr>
        <p:grpSpPr>
          <a:xfrm>
            <a:off x="1098072" y="1017369"/>
            <a:ext cx="3081867" cy="5269131"/>
            <a:chOff x="963691" y="1322288"/>
            <a:chExt cx="3081867" cy="5269131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5A395D2-3D39-866B-DD73-847F3E3D0EC9}"/>
                </a:ext>
              </a:extLst>
            </p:cNvPr>
            <p:cNvGrpSpPr/>
            <p:nvPr/>
          </p:nvGrpSpPr>
          <p:grpSpPr>
            <a:xfrm>
              <a:off x="963691" y="1322288"/>
              <a:ext cx="3081867" cy="4622800"/>
              <a:chOff x="963691" y="1136021"/>
              <a:chExt cx="3081867" cy="4622800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63C89640-CE47-3042-95DC-3F2151667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3691" y="1136021"/>
                <a:ext cx="3081867" cy="4622800"/>
              </a:xfrm>
              <a:prstGeom prst="rect">
                <a:avLst/>
              </a:prstGeom>
            </p:spPr>
          </p:pic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15A29F1-93FC-AFE2-210A-F0A379563ED7}"/>
                  </a:ext>
                </a:extLst>
              </p:cNvPr>
              <p:cNvSpPr txBox="1"/>
              <p:nvPr/>
            </p:nvSpPr>
            <p:spPr>
              <a:xfrm>
                <a:off x="1482934" y="5164667"/>
                <a:ext cx="20441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sz="1800" dirty="0"/>
                  <a:t>Markee</a:t>
                </a:r>
                <a:r>
                  <a:rPr kumimoji="1" lang="zh-CN" altLang="en-US" sz="1800" dirty="0"/>
                  <a:t> </a:t>
                </a:r>
                <a:r>
                  <a:rPr kumimoji="1" lang="en-US" altLang="zh-CN" sz="1800" dirty="0"/>
                  <a:t>Singletary</a:t>
                </a:r>
                <a:endParaRPr kumimoji="1" lang="zh-CN" altLang="en-US" sz="1800" dirty="0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7E6B65B-62FD-E11E-A564-8C23831973EC}"/>
                </a:ext>
              </a:extLst>
            </p:cNvPr>
            <p:cNvSpPr txBox="1"/>
            <p:nvPr/>
          </p:nvSpPr>
          <p:spPr>
            <a:xfrm>
              <a:off x="1168400" y="5945088"/>
              <a:ext cx="2178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800" i="1" dirty="0"/>
                <a:t>Is_recid = 0</a:t>
              </a:r>
            </a:p>
            <a:p>
              <a:r>
                <a:rPr kumimoji="1" lang="en-US" altLang="zh-CN" sz="1800" i="1" dirty="0"/>
                <a:t>Is_violent_recid = 0</a:t>
              </a:r>
            </a:p>
          </p:txBody>
        </p:sp>
      </p:grpSp>
      <p:sp>
        <p:nvSpPr>
          <p:cNvPr id="12" name="Google Shape;131;p16">
            <a:extLst>
              <a:ext uri="{FF2B5EF4-FFF2-40B4-BE49-F238E27FC236}">
                <a16:creationId xmlns:a16="http://schemas.microsoft.com/office/drawing/2014/main" id="{5AF1099B-DB62-3166-DC38-7C9E0EE57A3B}"/>
              </a:ext>
            </a:extLst>
          </p:cNvPr>
          <p:cNvSpPr txBox="1"/>
          <p:nvPr/>
        </p:nvSpPr>
        <p:spPr>
          <a:xfrm>
            <a:off x="5845915" y="3438827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COMPAS:</a:t>
            </a:r>
            <a:r>
              <a:rPr lang="zh-CN" altLang="en-US" sz="18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zh-CN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score = 2         get LOW text level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                  v_score = 2       get LOW text level</a:t>
            </a:r>
            <a:endParaRPr sz="1800" i="1" dirty="0"/>
          </a:p>
        </p:txBody>
      </p:sp>
      <p:sp>
        <p:nvSpPr>
          <p:cNvPr id="14" name="Google Shape;131;p16">
            <a:extLst>
              <a:ext uri="{FF2B5EF4-FFF2-40B4-BE49-F238E27FC236}">
                <a16:creationId xmlns:a16="http://schemas.microsoft.com/office/drawing/2014/main" id="{6DCABEF4-1425-8879-2900-2AFF861CD07E}"/>
              </a:ext>
            </a:extLst>
          </p:cNvPr>
          <p:cNvSpPr txBox="1"/>
          <p:nvPr/>
        </p:nvSpPr>
        <p:spPr>
          <a:xfrm>
            <a:off x="5845915" y="5263724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 Our Threshold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Low risk defendant </a:t>
            </a:r>
            <a:endParaRPr sz="1800" i="1" dirty="0"/>
          </a:p>
        </p:txBody>
      </p:sp>
      <p:sp>
        <p:nvSpPr>
          <p:cNvPr id="15" name="Google Shape;131;p16">
            <a:extLst>
              <a:ext uri="{FF2B5EF4-FFF2-40B4-BE49-F238E27FC236}">
                <a16:creationId xmlns:a16="http://schemas.microsoft.com/office/drawing/2014/main" id="{FDAD978D-1652-2E49-D72D-6C556B71DEC5}"/>
              </a:ext>
            </a:extLst>
          </p:cNvPr>
          <p:cNvSpPr txBox="1"/>
          <p:nvPr/>
        </p:nvSpPr>
        <p:spPr>
          <a:xfrm>
            <a:off x="5845915" y="4420916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Threshold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0. </a:t>
            </a:r>
            <a:r>
              <a:rPr lang="en-US" altLang="zh-CN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71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(non-violent) and 0.</a:t>
            </a:r>
            <a:r>
              <a:rPr lang="en-US" altLang="zh-CN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(violent) </a:t>
            </a:r>
            <a:endParaRPr sz="1800" i="1" dirty="0"/>
          </a:p>
        </p:txBody>
      </p:sp>
    </p:spTree>
    <p:extLst>
      <p:ext uri="{BB962C8B-B14F-4D97-AF65-F5344CB8AC3E}">
        <p14:creationId xmlns:p14="http://schemas.microsoft.com/office/powerpoint/2010/main" val="2128765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DE6164DA-F098-3D75-771E-D0AE06531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>
            <a:extLst>
              <a:ext uri="{FF2B5EF4-FFF2-40B4-BE49-F238E27FC236}">
                <a16:creationId xmlns:a16="http://schemas.microsoft.com/office/drawing/2014/main" id="{11B5A041-1171-51C2-F308-A3FFA42462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0045B651-B36F-A68B-CD20-9797A406DEB3}"/>
              </a:ext>
            </a:extLst>
          </p:cNvPr>
          <p:cNvSpPr txBox="1"/>
          <p:nvPr/>
        </p:nvSpPr>
        <p:spPr>
          <a:xfrm>
            <a:off x="571499" y="571500"/>
            <a:ext cx="743796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Poppins"/>
                <a:cs typeface="Poppins"/>
                <a:sym typeface="Poppins"/>
              </a:rPr>
              <a:t>Interpretability and Explainability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83A242-4BC2-B59C-3875-90469D50F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80" y="1217835"/>
            <a:ext cx="8400214" cy="478110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083BC9C-55AD-F21F-1152-0613082B8479}"/>
              </a:ext>
            </a:extLst>
          </p:cNvPr>
          <p:cNvSpPr txBox="1"/>
          <p:nvPr/>
        </p:nvSpPr>
        <p:spPr>
          <a:xfrm>
            <a:off x="9517639" y="710899"/>
            <a:ext cx="1617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Risk Factor</a:t>
            </a:r>
            <a:endParaRPr kumimoji="1" lang="zh-CN" altLang="en-US" sz="1600" b="1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D93A4E-25E7-558F-50F7-EBB1A974B983}"/>
              </a:ext>
            </a:extLst>
          </p:cNvPr>
          <p:cNvSpPr txBox="1"/>
          <p:nvPr/>
        </p:nvSpPr>
        <p:spPr>
          <a:xfrm>
            <a:off x="8890000" y="1217835"/>
            <a:ext cx="2929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Prior count</a:t>
            </a:r>
          </a:p>
          <a:p>
            <a:r>
              <a:rPr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Strongest predictor. Individuals with more previous convictions are statistically more likely to reoffend.</a:t>
            </a:r>
            <a:endParaRPr lang="zh-CN" altLang="en-US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89E37F-17CF-D7FC-B1C0-E9797D6B575E}"/>
              </a:ext>
            </a:extLst>
          </p:cNvPr>
          <p:cNvSpPr txBox="1"/>
          <p:nvPr/>
        </p:nvSpPr>
        <p:spPr>
          <a:xfrm>
            <a:off x="8890000" y="2281862"/>
            <a:ext cx="29294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 factor</a:t>
            </a:r>
          </a:p>
          <a:p>
            <a:r>
              <a:rPr lang="en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 shows a negative relationship with recidivism risk, with younger individuals generally exhibiting a higher probability of reoffending than older individuals.</a:t>
            </a:r>
            <a:endParaRPr kumimoji="1" lang="zh-CN" altLang="en-US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2FD298-A478-C523-717B-E09AB0759617}"/>
              </a:ext>
            </a:extLst>
          </p:cNvPr>
          <p:cNvSpPr txBox="1"/>
          <p:nvPr/>
        </p:nvSpPr>
        <p:spPr>
          <a:xfrm>
            <a:off x="8890000" y="3752167"/>
            <a:ext cx="28109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African-American factor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Significant</a:t>
            </a:r>
            <a:r>
              <a:rPr kumimoji="1" lang="zh-CN" altLang="en-US" dirty="0"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predictor</a:t>
            </a:r>
            <a:r>
              <a:rPr kumimoji="1" lang="zh-CN" altLang="en-US" dirty="0"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but</a:t>
            </a:r>
            <a:r>
              <a:rPr kumimoji="1" lang="zh-CN" altLang="en-US" dirty="0"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</a:t>
            </a:r>
            <a:r>
              <a:rPr kumimoji="1" lang="zh-CN" altLang="en-US" dirty="0"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r>
              <a:rPr kumimoji="1" lang="zh-CN" altLang="en-US" dirty="0"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casual</a:t>
            </a:r>
            <a:r>
              <a:rPr kumimoji="1" lang="zh-CN" altLang="en-US" dirty="0">
                <a:latin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1" lang="en-US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factor.</a:t>
            </a:r>
          </a:p>
          <a:p>
            <a:r>
              <a:rPr lang="en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policing intensity</a:t>
            </a:r>
          </a:p>
          <a:p>
            <a:r>
              <a:rPr lang="en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socioeconomic inequality</a:t>
            </a:r>
          </a:p>
          <a:p>
            <a:endParaRPr lang="en" altLang="zh-C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" altLang="zh-C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Since the model is trained on historical criminal justice data, it may also inherit biases in the system. </a:t>
            </a:r>
          </a:p>
        </p:txBody>
      </p:sp>
    </p:spTree>
    <p:extLst>
      <p:ext uri="{BB962C8B-B14F-4D97-AF65-F5344CB8AC3E}">
        <p14:creationId xmlns:p14="http://schemas.microsoft.com/office/powerpoint/2010/main" val="181571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1762125" y="2328862"/>
            <a:ext cx="909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Parole Request Recommendations: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defendant ID: 2218, we will recommend the judge granted the parole request.</a:t>
            </a:r>
            <a:endParaRPr sz="1800" dirty="0"/>
          </a:p>
        </p:txBody>
      </p:sp>
      <p:sp>
        <p:nvSpPr>
          <p:cNvPr id="200" name="Google Shape;200;p22"/>
          <p:cNvSpPr txBox="1"/>
          <p:nvPr/>
        </p:nvSpPr>
        <p:spPr>
          <a:xfrm>
            <a:off x="1762125" y="3362851"/>
            <a:ext cx="944774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Aligning with the COMPAS Score: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0.33/1 vs 2/10. Our results are consistent with COMPAS.</a:t>
            </a:r>
            <a:endParaRPr sz="1800" dirty="0"/>
          </a:p>
        </p:txBody>
      </p:sp>
      <p:sp>
        <p:nvSpPr>
          <p:cNvPr id="201" name="Google Shape;201;p22"/>
          <p:cNvSpPr txBox="1"/>
          <p:nvPr/>
        </p:nvSpPr>
        <p:spPr>
          <a:xfrm>
            <a:off x="1762125" y="4024312"/>
            <a:ext cx="909637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Resolving Model Disagreements: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our model contradicts the COMPAS conclusion, 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we strongly </a:t>
            </a:r>
            <a:r>
              <a:rPr lang="en-US" sz="180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advice</a:t>
            </a:r>
            <a:r>
              <a:rPr lang="zh-CN" altLang="en-US" sz="180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altLang="zh-CN" sz="180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you m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ake inferences based on our predictions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It maintains equivalent predictive accuracy while actively suppressing systemic racial misclassification bias.</a:t>
            </a:r>
            <a:endParaRPr sz="1800" dirty="0"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Final Recommendations &amp; Alignment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99A8093-2560-56A0-E514-61ACEDF11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150" y="1343311"/>
            <a:ext cx="36957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295275" y="226412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571500" y="3597622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Thank you for your attention. We welcome any questions regarding the model architecture or fairness metrics.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Macintosh PowerPoint</Application>
  <PresentationFormat>宽屏</PresentationFormat>
  <Paragraphs>69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Calibri</vt:lpstr>
      <vt:lpstr>Lato</vt:lpstr>
      <vt:lpstr>Poppins SemiBold</vt:lpstr>
      <vt:lpstr>Poppins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九州 夏</cp:lastModifiedBy>
  <cp:revision>1</cp:revision>
  <dcterms:modified xsi:type="dcterms:W3CDTF">2026-03-08T01:40:31Z</dcterms:modified>
</cp:coreProperties>
</file>