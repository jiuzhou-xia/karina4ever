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75" r:id="rId5"/>
    <p:sldId id="259" r:id="rId6"/>
    <p:sldId id="269" r:id="rId7"/>
    <p:sldId id="263" r:id="rId8"/>
    <p:sldId id="268" r:id="rId9"/>
    <p:sldId id="272" r:id="rId10"/>
    <p:sldId id="273" r:id="rId11"/>
    <p:sldId id="274" r:id="rId12"/>
    <p:sldId id="265" r:id="rId13"/>
    <p:sldId id="266" r:id="rId14"/>
  </p:sldIdLst>
  <p:sldSz cx="12192000" cy="6858000"/>
  <p:notesSz cx="6858000" cy="9144000"/>
  <p:embeddedFontLst>
    <p:embeddedFont>
      <p:font typeface="Lato" panose="020F0502020204030203" pitchFamily="34" charset="0"/>
      <p:regular r:id="rId16"/>
      <p:bold r:id="rId17"/>
      <p:italic r:id="rId18"/>
      <p:boldItalic r:id="rId19"/>
    </p:embeddedFont>
    <p:embeddedFont>
      <p:font typeface="Poppins" pitchFamily="2" charset="0"/>
      <p:regular r:id="rId20"/>
      <p:bold r:id="rId21"/>
      <p:italic r:id="rId22"/>
      <p:boldItalic r:id="rId23"/>
    </p:embeddedFont>
    <p:embeddedFont>
      <p:font typeface="Poppins SemiBold" panose="000007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20"/>
    <p:restoredTop sz="94678"/>
  </p:normalViewPr>
  <p:slideViewPr>
    <p:cSldViewPr snapToGrid="0">
      <p:cViewPr varScale="1">
        <p:scale>
          <a:sx n="104" d="100"/>
          <a:sy n="104" d="100"/>
        </p:scale>
        <p:origin x="216" y="1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CE658DF7-6677-2642-10A3-D86D76B22D00}"/>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DD7AB906-27D9-7FA6-8942-A58E9ECE81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a:extLst>
              <a:ext uri="{FF2B5EF4-FFF2-40B4-BE49-F238E27FC236}">
                <a16:creationId xmlns:a16="http://schemas.microsoft.com/office/drawing/2014/main" id="{899CA293-46EA-4E4B-9F3E-CE791057CD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418773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A84F115E-1FE9-B4AC-9BB7-8C9B901CF2A2}"/>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98F9A665-561E-D1F3-1AC7-43BEF6E998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a:extLst>
              <a:ext uri="{FF2B5EF4-FFF2-40B4-BE49-F238E27FC236}">
                <a16:creationId xmlns:a16="http://schemas.microsoft.com/office/drawing/2014/main" id="{A77BD7D7-2EDA-5B18-FA07-FE11B3DD5C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2399829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E42E3645-97CD-6A60-C776-F2E5088864A2}"/>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9232414F-37EA-9C77-5C1E-7B656BFC2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a:extLst>
              <a:ext uri="{FF2B5EF4-FFF2-40B4-BE49-F238E27FC236}">
                <a16:creationId xmlns:a16="http://schemas.microsoft.com/office/drawing/2014/main" id="{B4688D06-AE1D-8CB8-E8A9-4BE1676A07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522341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FFA41272-1B18-65D5-99BC-9A8B9F6D6539}"/>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74C2AAE4-EC5E-EC13-583C-4D963CA9F3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a:extLst>
              <a:ext uri="{FF2B5EF4-FFF2-40B4-BE49-F238E27FC236}">
                <a16:creationId xmlns:a16="http://schemas.microsoft.com/office/drawing/2014/main" id="{EA1079C1-8729-337B-7B39-9DD5D13086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277870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2127BD1A-5E81-26C1-6F97-BCDC782346F0}"/>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76D68611-F8EE-4529-DB83-1D67842E7F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a:extLst>
              <a:ext uri="{FF2B5EF4-FFF2-40B4-BE49-F238E27FC236}">
                <a16:creationId xmlns:a16="http://schemas.microsoft.com/office/drawing/2014/main" id="{D3936DDE-B623-C7FE-C3DB-C8FDB0A987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1416965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B13CDF45-F14B-B0D9-3207-BD1E2FBDD0E4}"/>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2BAF8561-6FF7-9A3C-1631-E688CEC2A9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a:extLst>
              <a:ext uri="{FF2B5EF4-FFF2-40B4-BE49-F238E27FC236}">
                <a16:creationId xmlns:a16="http://schemas.microsoft.com/office/drawing/2014/main" id="{4D0BC4CD-E2E8-C697-071F-35DBAF0640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1908489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zh-CN" alt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595437" y="2095648"/>
            <a:ext cx="9001125" cy="155119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i="0" u="none" strike="noStrike" cap="none" dirty="0">
                <a:solidFill>
                  <a:srgbClr val="0F172A"/>
                </a:solidFill>
                <a:latin typeface="Poppins"/>
                <a:ea typeface="Poppins"/>
                <a:cs typeface="Poppins"/>
                <a:sym typeface="Poppins"/>
              </a:rPr>
              <a:t>COMPAS Algorithm Fairness Analysis: A Logistic Regression</a:t>
            </a:r>
            <a:endParaRPr dirty="0"/>
          </a:p>
        </p:txBody>
      </p:sp>
      <p:sp>
        <p:nvSpPr>
          <p:cNvPr id="86" name="Google Shape;86;p13"/>
          <p:cNvSpPr txBox="1"/>
          <p:nvPr/>
        </p:nvSpPr>
        <p:spPr>
          <a:xfrm>
            <a:off x="1809750" y="4206031"/>
            <a:ext cx="85725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475569"/>
                </a:solidFill>
                <a:latin typeface="Lato"/>
                <a:ea typeface="Lato"/>
                <a:cs typeface="Lato"/>
                <a:sym typeface="Lato"/>
              </a:rPr>
              <a:t>Mitigating the racial disparity gap to achieve an equitable recidivism risk assessment.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323850"/>
            <a:ext cx="12192000" cy="68580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6334125" y="1943100"/>
            <a:ext cx="5286375" cy="3619500"/>
          </a:xfrm>
          <a:prstGeom prst="rect">
            <a:avLst/>
          </a:prstGeom>
          <a:noFill/>
          <a:ln>
            <a:noFill/>
          </a:ln>
        </p:spPr>
      </p:pic>
      <p:sp>
        <p:nvSpPr>
          <p:cNvPr id="93" name="Google Shape;93;p14"/>
          <p:cNvSpPr txBox="1"/>
          <p:nvPr/>
        </p:nvSpPr>
        <p:spPr>
          <a:xfrm>
            <a:off x="695325" y="1943100"/>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a:t>
            </a:r>
            <a:endParaRPr/>
          </a:p>
        </p:txBody>
      </p:sp>
      <p:sp>
        <p:nvSpPr>
          <p:cNvPr id="94" name="Google Shape;94;p14"/>
          <p:cNvSpPr txBox="1"/>
          <p:nvPr/>
        </p:nvSpPr>
        <p:spPr>
          <a:xfrm>
            <a:off x="809625" y="1891968"/>
            <a:ext cx="5048250" cy="6096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Introduction to COMPAS:</a:t>
            </a:r>
            <a:r>
              <a:rPr lang="en-US" sz="1500" b="0" i="0" u="none" strike="noStrike" cap="none" dirty="0">
                <a:solidFill>
                  <a:srgbClr val="334155"/>
                </a:solidFill>
                <a:latin typeface="Lato"/>
                <a:ea typeface="Lato"/>
                <a:cs typeface="Lato"/>
                <a:sym typeface="Lato"/>
              </a:rPr>
              <a:t> A proprietary risk assessment tool widely used to predict a defendant's likelihood of recidivism.</a:t>
            </a:r>
            <a:endParaRPr dirty="0"/>
          </a:p>
        </p:txBody>
      </p:sp>
      <p:sp>
        <p:nvSpPr>
          <p:cNvPr id="95" name="Google Shape;95;p14"/>
          <p:cNvSpPr txBox="1"/>
          <p:nvPr/>
        </p:nvSpPr>
        <p:spPr>
          <a:xfrm>
            <a:off x="695325" y="3048000"/>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4155"/>
                </a:solidFill>
                <a:latin typeface="Lato"/>
                <a:ea typeface="Lato"/>
                <a:cs typeface="Lato"/>
                <a:sym typeface="Lato"/>
              </a:rPr>
              <a:t>•</a:t>
            </a:r>
            <a:endParaRPr dirty="0"/>
          </a:p>
        </p:txBody>
      </p:sp>
      <p:sp>
        <p:nvSpPr>
          <p:cNvPr id="96" name="Google Shape;96;p14"/>
          <p:cNvSpPr txBox="1"/>
          <p:nvPr/>
        </p:nvSpPr>
        <p:spPr>
          <a:xfrm>
            <a:off x="809625" y="3000251"/>
            <a:ext cx="5048250" cy="9144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Racial Inequality:</a:t>
            </a:r>
            <a:r>
              <a:rPr lang="en-US" sz="1500" b="0" i="0" u="none" strike="noStrike" cap="none" dirty="0">
                <a:solidFill>
                  <a:srgbClr val="334155"/>
                </a:solidFill>
                <a:latin typeface="Lato"/>
                <a:ea typeface="Lato"/>
                <a:cs typeface="Lato"/>
                <a:sym typeface="Lato"/>
              </a:rPr>
              <a:t> Research indicates significant systemic bias, specifically a glaring discrepancy in False Positive Rates (FPR) between Black and White defendants.</a:t>
            </a:r>
            <a:endParaRPr dirty="0"/>
          </a:p>
        </p:txBody>
      </p:sp>
      <p:sp>
        <p:nvSpPr>
          <p:cNvPr id="97" name="Google Shape;97;p14"/>
          <p:cNvSpPr txBox="1"/>
          <p:nvPr/>
        </p:nvSpPr>
        <p:spPr>
          <a:xfrm>
            <a:off x="695325" y="4338513"/>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4155"/>
                </a:solidFill>
                <a:latin typeface="Lato"/>
                <a:ea typeface="Lato"/>
                <a:cs typeface="Lato"/>
                <a:sym typeface="Lato"/>
              </a:rPr>
              <a:t>•</a:t>
            </a:r>
            <a:endParaRPr dirty="0"/>
          </a:p>
        </p:txBody>
      </p:sp>
      <p:sp>
        <p:nvSpPr>
          <p:cNvPr id="100" name="Google Shape;100;p14"/>
          <p:cNvSpPr txBox="1"/>
          <p:nvPr/>
        </p:nvSpPr>
        <p:spPr>
          <a:xfrm>
            <a:off x="809625" y="4257551"/>
            <a:ext cx="5048250" cy="9144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Optimization Goal:</a:t>
            </a:r>
            <a:r>
              <a:rPr lang="en-US" sz="1500" b="0" i="0" u="none" strike="noStrike" cap="none" dirty="0">
                <a:solidFill>
                  <a:srgbClr val="334155"/>
                </a:solidFill>
                <a:latin typeface="Lato"/>
                <a:ea typeface="Lato"/>
                <a:cs typeface="Lato"/>
                <a:sym typeface="Lato"/>
              </a:rPr>
              <a:t> To restructure the algorithm and significantly weaken the predictive gap between races, all while maintaining overall model accuracy.</a:t>
            </a:r>
            <a:endParaRPr dirty="0"/>
          </a:p>
        </p:txBody>
      </p:sp>
      <p:sp>
        <p:nvSpPr>
          <p:cNvPr id="102" name="Google Shape;102;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3A8A"/>
                </a:solidFill>
                <a:latin typeface="Poppins"/>
                <a:ea typeface="Poppins"/>
                <a:cs typeface="Poppins"/>
                <a:sym typeface="Poppins"/>
              </a:rPr>
              <a:t>Background &amp; Core Objectives</a:t>
            </a:r>
            <a:endParaRPr/>
          </a:p>
        </p:txBody>
      </p:sp>
      <p:pic>
        <p:nvPicPr>
          <p:cNvPr id="2" name="图片 1">
            <a:extLst>
              <a:ext uri="{FF2B5EF4-FFF2-40B4-BE49-F238E27FC236}">
                <a16:creationId xmlns:a16="http://schemas.microsoft.com/office/drawing/2014/main" id="{D10CCA21-E680-20D6-40C1-817E2091461F}"/>
              </a:ext>
            </a:extLst>
          </p:cNvPr>
          <p:cNvPicPr>
            <a:picLocks noChangeAspect="1"/>
          </p:cNvPicPr>
          <p:nvPr/>
        </p:nvPicPr>
        <p:blipFill>
          <a:blip r:embed="rId5"/>
          <a:stretch>
            <a:fillRect/>
          </a:stretch>
        </p:blipFill>
        <p:spPr>
          <a:xfrm>
            <a:off x="6315075" y="1143000"/>
            <a:ext cx="4254500" cy="3238500"/>
          </a:xfrm>
          <a:prstGeom prst="rect">
            <a:avLst/>
          </a:prstGeom>
        </p:spPr>
      </p:pic>
      <p:pic>
        <p:nvPicPr>
          <p:cNvPr id="3" name="图片 2">
            <a:extLst>
              <a:ext uri="{FF2B5EF4-FFF2-40B4-BE49-F238E27FC236}">
                <a16:creationId xmlns:a16="http://schemas.microsoft.com/office/drawing/2014/main" id="{D15F4114-580C-B956-A0C3-240B5096776D}"/>
              </a:ext>
            </a:extLst>
          </p:cNvPr>
          <p:cNvPicPr>
            <a:picLocks noChangeAspect="1"/>
          </p:cNvPicPr>
          <p:nvPr/>
        </p:nvPicPr>
        <p:blipFill>
          <a:blip r:embed="rId6"/>
          <a:stretch>
            <a:fillRect/>
          </a:stretch>
        </p:blipFill>
        <p:spPr>
          <a:xfrm>
            <a:off x="6315075" y="4381500"/>
            <a:ext cx="4254500" cy="2235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a:stretch/>
        </p:blipFill>
        <p:spPr>
          <a:xfrm>
            <a:off x="0" y="16933"/>
            <a:ext cx="12192000" cy="68580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5782496" y="1285875"/>
            <a:ext cx="5049057" cy="1847850"/>
          </a:xfrm>
          <a:prstGeom prst="rect">
            <a:avLst/>
          </a:prstGeom>
          <a:noFill/>
          <a:ln>
            <a:noFill/>
          </a:ln>
        </p:spPr>
      </p:pic>
      <p:pic>
        <p:nvPicPr>
          <p:cNvPr id="110" name="Google Shape;110;p15" descr="image.png"/>
          <p:cNvPicPr preferRelativeResize="0"/>
          <p:nvPr/>
        </p:nvPicPr>
        <p:blipFill rotWithShape="1">
          <a:blip r:embed="rId5">
            <a:alphaModFix/>
          </a:blip>
          <a:srcRect/>
          <a:stretch/>
        </p:blipFill>
        <p:spPr>
          <a:xfrm>
            <a:off x="5782496" y="3437274"/>
            <a:ext cx="5049056" cy="1944009"/>
          </a:xfrm>
          <a:prstGeom prst="rect">
            <a:avLst/>
          </a:prstGeom>
          <a:noFill/>
          <a:ln>
            <a:noFill/>
          </a:ln>
        </p:spPr>
      </p:pic>
      <p:sp>
        <p:nvSpPr>
          <p:cNvPr id="111" name="Google Shape;111;p15"/>
          <p:cNvSpPr txBox="1"/>
          <p:nvPr/>
        </p:nvSpPr>
        <p:spPr>
          <a:xfrm>
            <a:off x="2489250" y="1586894"/>
            <a:ext cx="1610201"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0F172A"/>
                </a:solidFill>
                <a:latin typeface="Poppins SemiBold"/>
                <a:ea typeface="Poppins SemiBold"/>
                <a:cs typeface="Poppins SemiBold"/>
                <a:sym typeface="Poppins SemiBold"/>
              </a:rPr>
              <a:t>Core Model</a:t>
            </a:r>
            <a:endParaRPr dirty="0"/>
          </a:p>
        </p:txBody>
      </p:sp>
      <p:sp>
        <p:nvSpPr>
          <p:cNvPr id="112" name="Google Shape;112;p15"/>
          <p:cNvSpPr txBox="1"/>
          <p:nvPr/>
        </p:nvSpPr>
        <p:spPr>
          <a:xfrm>
            <a:off x="1304039" y="5096934"/>
            <a:ext cx="4009615"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 Logistic Regression</a:t>
            </a:r>
            <a:r>
              <a:rPr lang="en-US" sz="1500" b="0" i="0" u="none" strike="noStrike" cap="none" dirty="0">
                <a:solidFill>
                  <a:srgbClr val="334155"/>
                </a:solidFill>
                <a:latin typeface="Lato"/>
                <a:ea typeface="Lato"/>
                <a:cs typeface="Lato"/>
                <a:sym typeface="Lato"/>
              </a:rPr>
              <a:t> </a:t>
            </a:r>
          </a:p>
          <a:p>
            <a:pPr marL="0" marR="0" lvl="0" indent="0"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Unlike complex black-box algorithms, it outputs clear probabilities and transparent relationships.</a:t>
            </a:r>
            <a:endParaRPr dirty="0"/>
          </a:p>
        </p:txBody>
      </p:sp>
      <p:sp>
        <p:nvSpPr>
          <p:cNvPr id="113" name="Google Shape;113;p15"/>
          <p:cNvSpPr txBox="1"/>
          <p:nvPr/>
        </p:nvSpPr>
        <p:spPr>
          <a:xfrm>
            <a:off x="7561859" y="1476717"/>
            <a:ext cx="1370171"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0F172A"/>
                </a:solidFill>
                <a:latin typeface="Poppins SemiBold"/>
                <a:ea typeface="Poppins SemiBold"/>
                <a:cs typeface="Poppins SemiBold"/>
                <a:sym typeface="Poppins SemiBold"/>
              </a:rPr>
              <a:t>Rationale</a:t>
            </a:r>
            <a:endParaRPr dirty="0"/>
          </a:p>
        </p:txBody>
      </p:sp>
      <p:sp>
        <p:nvSpPr>
          <p:cNvPr id="114" name="Google Shape;114;p15"/>
          <p:cNvSpPr txBox="1"/>
          <p:nvPr/>
        </p:nvSpPr>
        <p:spPr>
          <a:xfrm>
            <a:off x="5850228" y="1855827"/>
            <a:ext cx="5129212" cy="1107996"/>
          </a:xfrm>
          <a:prstGeom prst="rect">
            <a:avLst/>
          </a:prstGeom>
          <a:noFill/>
          <a:ln>
            <a:noFill/>
          </a:ln>
        </p:spPr>
        <p:txBody>
          <a:bodyPr spcFirstLastPara="1" wrap="square" lIns="0" tIns="0" rIns="0" bIns="0" anchor="t" anchorCtr="0">
            <a:spAutoFit/>
          </a:bodyPr>
          <a:lstStyle/>
          <a:p>
            <a:pPr marL="0" marR="0" lvl="0" indent="0"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 Better Interpretability</a:t>
            </a:r>
            <a:endParaRPr lang="en-US" sz="1500" b="0" i="0" u="none" strike="noStrike" cap="none" dirty="0">
              <a:solidFill>
                <a:srgbClr val="334155"/>
              </a:solidFill>
              <a:latin typeface="Lato"/>
              <a:ea typeface="Lato"/>
              <a:cs typeface="Lato"/>
              <a:sym typeface="Lato"/>
            </a:endParaRPr>
          </a:p>
          <a:p>
            <a:pPr marL="0" marR="0" lvl="0" indent="0"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 Highly robust </a:t>
            </a:r>
            <a:r>
              <a:rPr lang="en-US" sz="1500" b="1" i="0" u="none" strike="noStrike" cap="none" dirty="0">
                <a:solidFill>
                  <a:srgbClr val="334155"/>
                </a:solidFill>
                <a:latin typeface="Lato"/>
                <a:ea typeface="Lato"/>
                <a:cs typeface="Lato"/>
                <a:sym typeface="Lato"/>
              </a:rPr>
              <a:t>against overfitting, </a:t>
            </a:r>
            <a:endParaRPr lang="en-US" sz="1500" dirty="0">
              <a:solidFill>
                <a:srgbClr val="334155"/>
              </a:solidFill>
              <a:latin typeface="Lato"/>
              <a:ea typeface="Lato"/>
              <a:cs typeface="Lato"/>
              <a:sym typeface="Lato"/>
            </a:endParaRPr>
          </a:p>
          <a:p>
            <a:pPr marL="0" marR="0" lvl="0" indent="0" rtl="0">
              <a:lnSpc>
                <a:spcPct val="160000"/>
              </a:lnSpc>
              <a:spcBef>
                <a:spcPts val="0"/>
              </a:spcBef>
              <a:spcAft>
                <a:spcPts val="0"/>
              </a:spcAft>
              <a:buNone/>
            </a:pPr>
            <a:r>
              <a:rPr lang="en-US" sz="1500" dirty="0">
                <a:solidFill>
                  <a:srgbClr val="334155"/>
                </a:solidFill>
                <a:latin typeface="Lato"/>
                <a:ea typeface="Lato"/>
                <a:cs typeface="Lato"/>
                <a:sym typeface="Lato"/>
              </a:rPr>
              <a:t>- P</a:t>
            </a:r>
            <a:r>
              <a:rPr lang="en-US" sz="1500" b="0" i="0" u="none" strike="noStrike" cap="none" dirty="0">
                <a:solidFill>
                  <a:srgbClr val="334155"/>
                </a:solidFill>
                <a:latin typeface="Lato"/>
                <a:ea typeface="Lato"/>
                <a:cs typeface="Lato"/>
                <a:sym typeface="Lato"/>
              </a:rPr>
              <a:t>articularly suitable for </a:t>
            </a:r>
            <a:r>
              <a:rPr lang="en-US" sz="1500" b="1" i="0" u="none" strike="noStrike" cap="none" dirty="0">
                <a:solidFill>
                  <a:srgbClr val="334155"/>
                </a:solidFill>
                <a:latin typeface="Lato"/>
                <a:ea typeface="Lato"/>
                <a:cs typeface="Lato"/>
                <a:sym typeface="Lato"/>
              </a:rPr>
              <a:t>small to medium-sized datasets</a:t>
            </a:r>
            <a:r>
              <a:rPr lang="en-US" sz="1500" b="0" i="0" u="none" strike="noStrike" cap="none" dirty="0">
                <a:solidFill>
                  <a:srgbClr val="334155"/>
                </a:solidFill>
                <a:latin typeface="Lato"/>
                <a:ea typeface="Lato"/>
                <a:cs typeface="Lato"/>
                <a:sym typeface="Lato"/>
              </a:rPr>
              <a:t>.</a:t>
            </a:r>
            <a:endParaRPr dirty="0"/>
          </a:p>
        </p:txBody>
      </p:sp>
      <p:sp>
        <p:nvSpPr>
          <p:cNvPr id="115" name="Google Shape;115;p15"/>
          <p:cNvSpPr txBox="1"/>
          <p:nvPr/>
        </p:nvSpPr>
        <p:spPr>
          <a:xfrm>
            <a:off x="6982487" y="3585388"/>
            <a:ext cx="2562395"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0F172A"/>
                </a:solidFill>
                <a:latin typeface="Poppins SemiBold"/>
                <a:ea typeface="Poppins SemiBold"/>
                <a:cs typeface="Poppins SemiBold"/>
                <a:sym typeface="Poppins SemiBold"/>
              </a:rPr>
              <a:t>Data Source</a:t>
            </a:r>
            <a:endParaRPr dirty="0"/>
          </a:p>
        </p:txBody>
      </p:sp>
      <p:sp>
        <p:nvSpPr>
          <p:cNvPr id="116" name="Google Shape;116;p15"/>
          <p:cNvSpPr txBox="1"/>
          <p:nvPr/>
        </p:nvSpPr>
        <p:spPr>
          <a:xfrm>
            <a:off x="6068483" y="4094797"/>
            <a:ext cx="4413250" cy="1107996"/>
          </a:xfrm>
          <a:prstGeom prst="rect">
            <a:avLst/>
          </a:prstGeom>
          <a:noFill/>
          <a:ln>
            <a:noFill/>
          </a:ln>
        </p:spPr>
        <p:txBody>
          <a:bodyPr spcFirstLastPara="1" wrap="square" lIns="0" tIns="0" rIns="0" bIns="0" anchor="t" anchorCtr="0">
            <a:spAutoFit/>
          </a:bodyPr>
          <a:lstStyle/>
          <a:p>
            <a:pPr marL="0" marR="0" lvl="0" indent="0"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The</a:t>
            </a:r>
            <a:r>
              <a:rPr lang="zh-CN" altLang="en-US" sz="1500" b="0" i="0" u="none" strike="noStrike" cap="none" dirty="0">
                <a:solidFill>
                  <a:srgbClr val="334155"/>
                </a:solidFill>
                <a:latin typeface="Lato"/>
                <a:ea typeface="Lato"/>
                <a:cs typeface="Lato"/>
                <a:sym typeface="Lato"/>
              </a:rPr>
              <a:t> </a:t>
            </a:r>
            <a:r>
              <a:rPr lang="en-US" sz="1500" b="0" i="0" u="none" strike="noStrike" cap="none" dirty="0">
                <a:solidFill>
                  <a:srgbClr val="334155"/>
                </a:solidFill>
                <a:latin typeface="Lato"/>
                <a:ea typeface="Lato"/>
                <a:cs typeface="Lato"/>
                <a:sym typeface="Lato"/>
              </a:rPr>
              <a:t>standardized </a:t>
            </a:r>
            <a:r>
              <a:rPr lang="en-US" sz="1500" b="1" i="0" u="none" strike="noStrike" cap="none" dirty="0">
                <a:solidFill>
                  <a:srgbClr val="334155"/>
                </a:solidFill>
                <a:latin typeface="Lato"/>
                <a:ea typeface="Lato"/>
                <a:cs typeface="Lato"/>
                <a:sym typeface="Lato"/>
              </a:rPr>
              <a:t>CSV file</a:t>
            </a:r>
            <a:r>
              <a:rPr lang="en-US" sz="1500" b="0" i="0" u="none" strike="noStrike" cap="none" dirty="0">
                <a:solidFill>
                  <a:srgbClr val="334155"/>
                </a:solidFill>
                <a:latin typeface="Lato"/>
                <a:ea typeface="Lato"/>
                <a:cs typeface="Lato"/>
                <a:sym typeface="Lato"/>
              </a:rPr>
              <a:t> provided via the course, containing anonymized defendant features and their verified two-year recidivism records.</a:t>
            </a:r>
            <a:endParaRPr dirty="0"/>
          </a:p>
        </p:txBody>
      </p:sp>
      <p:sp>
        <p:nvSpPr>
          <p:cNvPr id="120" name="Google Shape;120;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3A8A"/>
                </a:solidFill>
                <a:latin typeface="Poppins"/>
                <a:ea typeface="Poppins"/>
                <a:cs typeface="Poppins"/>
                <a:sym typeface="Poppins"/>
              </a:rPr>
              <a:t>Methodology &amp; Data Source</a:t>
            </a:r>
            <a:endParaRPr/>
          </a:p>
        </p:txBody>
      </p:sp>
      <p:pic>
        <p:nvPicPr>
          <p:cNvPr id="2" name="图片 1">
            <a:extLst>
              <a:ext uri="{FF2B5EF4-FFF2-40B4-BE49-F238E27FC236}">
                <a16:creationId xmlns:a16="http://schemas.microsoft.com/office/drawing/2014/main" id="{C7F176D4-C546-07AC-BF94-EEFE787E1480}"/>
              </a:ext>
            </a:extLst>
          </p:cNvPr>
          <p:cNvPicPr>
            <a:picLocks noChangeAspect="1"/>
          </p:cNvPicPr>
          <p:nvPr/>
        </p:nvPicPr>
        <p:blipFill>
          <a:blip r:embed="rId6"/>
          <a:stretch>
            <a:fillRect/>
          </a:stretch>
        </p:blipFill>
        <p:spPr>
          <a:xfrm>
            <a:off x="897639" y="1956251"/>
            <a:ext cx="4590229" cy="31406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ED76BEAA-5B4F-A564-E19B-526CE5F6BE19}"/>
            </a:ext>
          </a:extLst>
        </p:cNvPr>
        <p:cNvGrpSpPr/>
        <p:nvPr/>
      </p:nvGrpSpPr>
      <p:grpSpPr>
        <a:xfrm>
          <a:off x="0" y="0"/>
          <a:ext cx="0" cy="0"/>
          <a:chOff x="0" y="0"/>
          <a:chExt cx="0" cy="0"/>
        </a:xfrm>
      </p:grpSpPr>
      <p:pic>
        <p:nvPicPr>
          <p:cNvPr id="125" name="Google Shape;125;p16" descr="image.png">
            <a:extLst>
              <a:ext uri="{FF2B5EF4-FFF2-40B4-BE49-F238E27FC236}">
                <a16:creationId xmlns:a16="http://schemas.microsoft.com/office/drawing/2014/main" id="{73574531-B37F-1493-3800-32EA06EE585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6" name="Google Shape;136;p16">
            <a:extLst>
              <a:ext uri="{FF2B5EF4-FFF2-40B4-BE49-F238E27FC236}">
                <a16:creationId xmlns:a16="http://schemas.microsoft.com/office/drawing/2014/main" id="{A30EABC2-CFEA-3CFB-95DA-0323B3F9A3E8}"/>
              </a:ext>
            </a:extLst>
          </p:cNvPr>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lvl="0"/>
            <a:r>
              <a:rPr lang="en" altLang="zh-CN" sz="3000" b="1" dirty="0">
                <a:solidFill>
                  <a:srgbClr val="1E3A8A"/>
                </a:solidFill>
                <a:latin typeface="Poppins"/>
                <a:cs typeface="Poppins"/>
              </a:rPr>
              <a:t>Removing Systemic Bias via Sample Reweighing</a:t>
            </a:r>
            <a:endParaRPr lang="en-US" altLang="zh-CN" sz="3000" b="1" dirty="0">
              <a:solidFill>
                <a:srgbClr val="1E3A8A"/>
              </a:solidFill>
              <a:latin typeface="Poppins"/>
              <a:cs typeface="Poppins"/>
            </a:endParaRPr>
          </a:p>
        </p:txBody>
      </p:sp>
      <p:sp>
        <p:nvSpPr>
          <p:cNvPr id="8" name="文本框 7">
            <a:extLst>
              <a:ext uri="{FF2B5EF4-FFF2-40B4-BE49-F238E27FC236}">
                <a16:creationId xmlns:a16="http://schemas.microsoft.com/office/drawing/2014/main" id="{2574279D-F9D3-DB3B-00A0-23D2BDE6CB20}"/>
              </a:ext>
            </a:extLst>
          </p:cNvPr>
          <p:cNvSpPr txBox="1"/>
          <p:nvPr/>
        </p:nvSpPr>
        <p:spPr>
          <a:xfrm>
            <a:off x="571500" y="1308102"/>
            <a:ext cx="11087100" cy="5909310"/>
          </a:xfrm>
          <a:prstGeom prst="rect">
            <a:avLst/>
          </a:prstGeom>
          <a:noFill/>
        </p:spPr>
        <p:txBody>
          <a:bodyPr wrap="square" rtlCol="0">
            <a:spAutoFit/>
          </a:bodyPr>
          <a:lstStyle/>
          <a:p>
            <a:r>
              <a:rPr lang="en" altLang="zh-CN" sz="1800" b="1" dirty="0"/>
              <a:t>Core Concept:</a:t>
            </a:r>
            <a:r>
              <a:rPr lang="en" altLang="zh-CN" sz="1800" dirty="0"/>
              <a:t> We use </a:t>
            </a:r>
            <a:r>
              <a:rPr lang="en" altLang="zh-CN" sz="1800" b="1" dirty="0"/>
              <a:t>Sample Weights</a:t>
            </a:r>
            <a:r>
              <a:rPr lang="en" altLang="zh-CN" sz="1800" dirty="0"/>
              <a:t> to break the "false correlation" between race and recidivism, forcing the model to ignore race and focus on criminal behavior.</a:t>
            </a:r>
          </a:p>
          <a:p>
            <a:endParaRPr lang="en" altLang="zh-CN" sz="1800" dirty="0"/>
          </a:p>
          <a:p>
            <a:r>
              <a:rPr lang="en" altLang="zh-CN" sz="1800" b="1" dirty="0"/>
              <a:t>How it works (A "Parallel World" Example):</a:t>
            </a:r>
            <a:endParaRPr lang="en" altLang="zh-CN" sz="1800" dirty="0"/>
          </a:p>
          <a:p>
            <a:r>
              <a:rPr lang="en" altLang="zh-CN" sz="1800" dirty="0"/>
              <a:t>Imagine a dataset of 100 people (50 Black, 50 White):</a:t>
            </a:r>
          </a:p>
          <a:p>
            <a:r>
              <a:rPr lang="en" altLang="zh-CN" sz="1800" b="1" dirty="0"/>
              <a:t>Reality (Biased):</a:t>
            </a:r>
            <a:r>
              <a:rPr lang="en" altLang="zh-CN" sz="1800" dirty="0"/>
              <a:t> 40 Black recidivists vs. 10 White recidivists.</a:t>
            </a:r>
          </a:p>
          <a:p>
            <a:r>
              <a:rPr lang="en" altLang="zh-CN" sz="1800" b="1" dirty="0"/>
              <a:t>The Shortcut:</a:t>
            </a:r>
            <a:r>
              <a:rPr lang="en" altLang="zh-CN" sz="1800" dirty="0"/>
              <a:t> A "lazy" model would simply learn: </a:t>
            </a:r>
            <a:r>
              <a:rPr lang="en" altLang="zh-CN" sz="1800" i="1" dirty="0"/>
              <a:t>"Being Black = High Risk."</a:t>
            </a:r>
            <a:endParaRPr lang="en" altLang="zh-CN" sz="1800" dirty="0"/>
          </a:p>
          <a:p>
            <a:endParaRPr lang="en" altLang="zh-CN" sz="1800" dirty="0"/>
          </a:p>
          <a:p>
            <a:endParaRPr lang="en" altLang="zh-CN" sz="1800" b="1" dirty="0"/>
          </a:p>
          <a:p>
            <a:r>
              <a:rPr lang="en" altLang="zh-CN" sz="1800" b="1" dirty="0"/>
              <a:t>Black Recidivists:</a:t>
            </a:r>
            <a:r>
              <a:rPr lang="en" altLang="zh-CN" sz="1800" dirty="0"/>
              <a:t> W = (0.5 * 0.5) / 0.4 = 0.625</a:t>
            </a:r>
          </a:p>
          <a:p>
            <a:r>
              <a:rPr lang="en" altLang="zh-CN" sz="1800" b="1" dirty="0"/>
              <a:t>White Recidivists:</a:t>
            </a:r>
            <a:r>
              <a:rPr lang="en" altLang="zh-CN" sz="1800" dirty="0"/>
              <a:t> W = (0.5 *0.5) / 0.1 = 2.5</a:t>
            </a:r>
          </a:p>
          <a:p>
            <a:endParaRPr lang="en" altLang="zh-CN" sz="1800" dirty="0"/>
          </a:p>
          <a:p>
            <a:r>
              <a:rPr lang="en" altLang="zh-CN" sz="1800" b="1" dirty="0"/>
              <a:t>For Black Recidivists:</a:t>
            </a:r>
            <a:r>
              <a:rPr lang="en" altLang="zh-CN" sz="1800" dirty="0"/>
              <a:t> The penalty for a wrong guess drops from 1 to 0.625. The model realizes "over-focusing" on this group doesn't yield high rewards.</a:t>
            </a:r>
          </a:p>
          <a:p>
            <a:r>
              <a:rPr lang="en" altLang="zh-CN" sz="1800" b="1" dirty="0"/>
              <a:t>For White Recidivists:</a:t>
            </a:r>
            <a:r>
              <a:rPr lang="en" altLang="zh-CN" sz="1800" dirty="0"/>
              <a:t> The penalty for a wrong guess jumps from 1 to 2.5. The model is now "scared" of missing these cases and must study their specific features to get them right.</a:t>
            </a:r>
          </a:p>
          <a:p>
            <a:endParaRPr lang="en" altLang="zh-CN" sz="1800" dirty="0"/>
          </a:p>
          <a:p>
            <a:r>
              <a:rPr lang="en" altLang="zh-CN" sz="1800" dirty="0"/>
              <a:t>"While Reweighing removes the model's 'subjective prejudice', it cannot erase 'historical systemic </a:t>
            </a:r>
            <a:r>
              <a:rPr lang="en" altLang="zh-CN" sz="1800" dirty="0" err="1"/>
              <a:t>bias'</a:t>
            </a:r>
            <a:r>
              <a:rPr lang="en" altLang="zh-CN" sz="1800" dirty="0"/>
              <a:t> embedded in features like </a:t>
            </a:r>
            <a:r>
              <a:rPr lang="en" altLang="zh-CN" sz="1800" dirty="0" err="1"/>
              <a:t>priors_count</a:t>
            </a:r>
            <a:r>
              <a:rPr lang="en" altLang="zh-CN" sz="1800" dirty="0"/>
              <a:t>. However, it ensures the model treats the </a:t>
            </a:r>
            <a:r>
              <a:rPr lang="en" altLang="zh-CN" sz="1800" b="1" dirty="0"/>
              <a:t>evidence</a:t>
            </a:r>
            <a:r>
              <a:rPr lang="en" altLang="zh-CN" sz="1800" dirty="0"/>
              <a:t> (5 priors) equally, regardless of the person's race."</a:t>
            </a:r>
          </a:p>
          <a:p>
            <a:endParaRPr kumimoji="1" lang="zh-CN" altLang="en-US" sz="1800" dirty="0"/>
          </a:p>
        </p:txBody>
      </p:sp>
      <p:pic>
        <p:nvPicPr>
          <p:cNvPr id="1026" name="Picture 2">
            <a:extLst>
              <a:ext uri="{FF2B5EF4-FFF2-40B4-BE49-F238E27FC236}">
                <a16:creationId xmlns:a16="http://schemas.microsoft.com/office/drawing/2014/main" id="{B2593671-ACB0-8423-E10F-2426F094D6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59" t="14918" b="10241"/>
          <a:stretch>
            <a:fillRect/>
          </a:stretch>
        </p:blipFill>
        <p:spPr bwMode="auto">
          <a:xfrm>
            <a:off x="7648832" y="3365135"/>
            <a:ext cx="4009768" cy="120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42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0" name="Google Shape;130;p16"/>
          <p:cNvSpPr txBox="1"/>
          <p:nvPr/>
        </p:nvSpPr>
        <p:spPr>
          <a:xfrm>
            <a:off x="6457950" y="3319462"/>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a:t>
            </a:r>
            <a:endParaRPr/>
          </a:p>
        </p:txBody>
      </p:sp>
      <p:sp>
        <p:nvSpPr>
          <p:cNvPr id="131" name="Google Shape;131;p16"/>
          <p:cNvSpPr txBox="1"/>
          <p:nvPr/>
        </p:nvSpPr>
        <p:spPr>
          <a:xfrm>
            <a:off x="6980449" y="1388938"/>
            <a:ext cx="5048250" cy="369332"/>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Data Split:</a:t>
            </a:r>
            <a:r>
              <a:rPr lang="en-US" sz="1500" b="0" i="0" u="none" strike="noStrike" cap="none" dirty="0">
                <a:solidFill>
                  <a:srgbClr val="334155"/>
                </a:solidFill>
                <a:latin typeface="Lato"/>
                <a:ea typeface="Lato"/>
                <a:cs typeface="Lato"/>
                <a:sym typeface="Lato"/>
              </a:rPr>
              <a:t> 80/20 train-test split mechanism</a:t>
            </a:r>
            <a:endParaRPr dirty="0"/>
          </a:p>
        </p:txBody>
      </p:sp>
      <p:sp>
        <p:nvSpPr>
          <p:cNvPr id="132" name="Google Shape;132;p16"/>
          <p:cNvSpPr txBox="1"/>
          <p:nvPr/>
        </p:nvSpPr>
        <p:spPr>
          <a:xfrm>
            <a:off x="6457950" y="4071937"/>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a:t>
            </a:r>
            <a:endParaRPr/>
          </a:p>
        </p:txBody>
      </p:sp>
      <p:sp>
        <p:nvSpPr>
          <p:cNvPr id="133" name="Google Shape;133;p16"/>
          <p:cNvSpPr txBox="1"/>
          <p:nvPr/>
        </p:nvSpPr>
        <p:spPr>
          <a:xfrm>
            <a:off x="6980449" y="1996367"/>
            <a:ext cx="5048250" cy="369332"/>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Performance:</a:t>
            </a:r>
            <a:endParaRPr dirty="0"/>
          </a:p>
        </p:txBody>
      </p:sp>
      <p:sp>
        <p:nvSpPr>
          <p:cNvPr id="134" name="Google Shape;134;p16"/>
          <p:cNvSpPr txBox="1"/>
          <p:nvPr/>
        </p:nvSpPr>
        <p:spPr>
          <a:xfrm>
            <a:off x="6457950" y="5129212"/>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a:t>
            </a:r>
            <a:endParaRPr/>
          </a:p>
        </p:txBody>
      </p:sp>
      <p:sp>
        <p:nvSpPr>
          <p:cNvPr id="135" name="Google Shape;135;p16"/>
          <p:cNvSpPr txBox="1"/>
          <p:nvPr/>
        </p:nvSpPr>
        <p:spPr>
          <a:xfrm>
            <a:off x="7020031" y="4376737"/>
            <a:ext cx="5048250" cy="1107996"/>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Sample Weighting:</a:t>
            </a:r>
            <a:r>
              <a:rPr lang="en-US" sz="1500" b="0" i="0" u="none" strike="noStrike" cap="none" dirty="0">
                <a:solidFill>
                  <a:srgbClr val="334155"/>
                </a:solidFill>
                <a:latin typeface="Lato"/>
                <a:ea typeface="Lato"/>
                <a:cs typeface="Lato"/>
                <a:sym typeface="Lato"/>
              </a:rPr>
              <a:t> Applied strategic </a:t>
            </a:r>
            <a:r>
              <a:rPr lang="en-US" sz="1500" b="1" i="0" u="none" strike="noStrike" cap="none" dirty="0">
                <a:solidFill>
                  <a:srgbClr val="334155"/>
                </a:solidFill>
                <a:latin typeface="Lato"/>
                <a:ea typeface="Lato"/>
                <a:cs typeface="Lato"/>
                <a:sym typeface="Lato"/>
              </a:rPr>
              <a:t>Sample Weights</a:t>
            </a:r>
            <a:r>
              <a:rPr lang="en-US" sz="1500" b="0" i="0" u="none" strike="noStrike" cap="none" dirty="0">
                <a:solidFill>
                  <a:srgbClr val="334155"/>
                </a:solidFill>
                <a:latin typeface="Lato"/>
                <a:ea typeface="Lato"/>
                <a:cs typeface="Lato"/>
                <a:sym typeface="Lato"/>
              </a:rPr>
              <a:t> during training to penalize predictive biases caused by class imbalances. </a:t>
            </a:r>
            <a:endParaRPr dirty="0"/>
          </a:p>
        </p:txBody>
      </p:sp>
      <p:sp>
        <p:nvSpPr>
          <p:cNvPr id="136" name="Google Shape;136;p16"/>
          <p:cNvSpPr txBox="1"/>
          <p:nvPr/>
        </p:nvSpPr>
        <p:spPr>
          <a:xfrm>
            <a:off x="571500" y="522072"/>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1E3A8A"/>
                </a:solidFill>
                <a:latin typeface="Poppins"/>
                <a:ea typeface="Poppins"/>
                <a:cs typeface="Poppins"/>
                <a:sym typeface="Poppins"/>
              </a:rPr>
              <a:t>Our Model Performance</a:t>
            </a:r>
            <a:endParaRPr dirty="0"/>
          </a:p>
        </p:txBody>
      </p:sp>
      <p:pic>
        <p:nvPicPr>
          <p:cNvPr id="2" name="图片 1">
            <a:extLst>
              <a:ext uri="{FF2B5EF4-FFF2-40B4-BE49-F238E27FC236}">
                <a16:creationId xmlns:a16="http://schemas.microsoft.com/office/drawing/2014/main" id="{26CC42C8-AFD9-A530-26A6-632EAF6D0921}"/>
              </a:ext>
            </a:extLst>
          </p:cNvPr>
          <p:cNvPicPr>
            <a:picLocks noChangeAspect="1"/>
          </p:cNvPicPr>
          <p:nvPr/>
        </p:nvPicPr>
        <p:blipFill>
          <a:blip r:embed="rId4"/>
          <a:stretch>
            <a:fillRect/>
          </a:stretch>
        </p:blipFill>
        <p:spPr>
          <a:xfrm>
            <a:off x="93662" y="956965"/>
            <a:ext cx="6812175" cy="3191172"/>
          </a:xfrm>
          <a:prstGeom prst="rect">
            <a:avLst/>
          </a:prstGeom>
        </p:spPr>
      </p:pic>
      <p:pic>
        <p:nvPicPr>
          <p:cNvPr id="3" name="图片 2">
            <a:extLst>
              <a:ext uri="{FF2B5EF4-FFF2-40B4-BE49-F238E27FC236}">
                <a16:creationId xmlns:a16="http://schemas.microsoft.com/office/drawing/2014/main" id="{93F1F7C8-AC46-D9CC-FB64-A8BDF8B77902}"/>
              </a:ext>
            </a:extLst>
          </p:cNvPr>
          <p:cNvPicPr>
            <a:picLocks noChangeAspect="1"/>
          </p:cNvPicPr>
          <p:nvPr/>
        </p:nvPicPr>
        <p:blipFill>
          <a:blip r:embed="rId5"/>
          <a:stretch>
            <a:fillRect/>
          </a:stretch>
        </p:blipFill>
        <p:spPr>
          <a:xfrm>
            <a:off x="84137" y="3998329"/>
            <a:ext cx="6812175" cy="2809735"/>
          </a:xfrm>
          <a:prstGeom prst="rect">
            <a:avLst/>
          </a:prstGeom>
        </p:spPr>
      </p:pic>
      <p:grpSp>
        <p:nvGrpSpPr>
          <p:cNvPr id="7" name="组合 6">
            <a:extLst>
              <a:ext uri="{FF2B5EF4-FFF2-40B4-BE49-F238E27FC236}">
                <a16:creationId xmlns:a16="http://schemas.microsoft.com/office/drawing/2014/main" id="{745BFDE8-7D89-401A-1367-D27546475C38}"/>
              </a:ext>
            </a:extLst>
          </p:cNvPr>
          <p:cNvGrpSpPr/>
          <p:nvPr/>
        </p:nvGrpSpPr>
        <p:grpSpPr>
          <a:xfrm>
            <a:off x="7309589" y="2386466"/>
            <a:ext cx="2781300" cy="1814253"/>
            <a:chOff x="7282069" y="1545372"/>
            <a:chExt cx="2781300" cy="1814253"/>
          </a:xfrm>
        </p:grpSpPr>
        <p:pic>
          <p:nvPicPr>
            <p:cNvPr id="4" name="图片 3">
              <a:extLst>
                <a:ext uri="{FF2B5EF4-FFF2-40B4-BE49-F238E27FC236}">
                  <a16:creationId xmlns:a16="http://schemas.microsoft.com/office/drawing/2014/main" id="{D7A5E44D-1206-44E1-E020-4BE7A62DB6A0}"/>
                </a:ext>
              </a:extLst>
            </p:cNvPr>
            <p:cNvPicPr>
              <a:picLocks noChangeAspect="1"/>
            </p:cNvPicPr>
            <p:nvPr/>
          </p:nvPicPr>
          <p:blipFill>
            <a:blip r:embed="rId6"/>
            <a:stretch>
              <a:fillRect/>
            </a:stretch>
          </p:blipFill>
          <p:spPr>
            <a:xfrm>
              <a:off x="8437769" y="2454750"/>
              <a:ext cx="1625600" cy="904875"/>
            </a:xfrm>
            <a:prstGeom prst="rect">
              <a:avLst/>
            </a:prstGeom>
          </p:spPr>
        </p:pic>
        <p:pic>
          <p:nvPicPr>
            <p:cNvPr id="5" name="图片 4">
              <a:extLst>
                <a:ext uri="{FF2B5EF4-FFF2-40B4-BE49-F238E27FC236}">
                  <a16:creationId xmlns:a16="http://schemas.microsoft.com/office/drawing/2014/main" id="{E0A10529-34C5-DA8A-62A6-E0C298D631FF}"/>
                </a:ext>
              </a:extLst>
            </p:cNvPr>
            <p:cNvPicPr>
              <a:picLocks noChangeAspect="1"/>
            </p:cNvPicPr>
            <p:nvPr/>
          </p:nvPicPr>
          <p:blipFill>
            <a:blip r:embed="rId7"/>
            <a:stretch>
              <a:fillRect/>
            </a:stretch>
          </p:blipFill>
          <p:spPr>
            <a:xfrm>
              <a:off x="7282069" y="1545372"/>
              <a:ext cx="2781300" cy="909378"/>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a:extLst>
            <a:ext uri="{FF2B5EF4-FFF2-40B4-BE49-F238E27FC236}">
              <a16:creationId xmlns:a16="http://schemas.microsoft.com/office/drawing/2014/main" id="{E41DF053-6DEE-EFFD-49A8-48DDE4CC5DAA}"/>
            </a:ext>
          </a:extLst>
        </p:cNvPr>
        <p:cNvGrpSpPr/>
        <p:nvPr/>
      </p:nvGrpSpPr>
      <p:grpSpPr>
        <a:xfrm>
          <a:off x="0" y="0"/>
          <a:ext cx="0" cy="0"/>
          <a:chOff x="0" y="0"/>
          <a:chExt cx="0" cy="0"/>
        </a:xfrm>
      </p:grpSpPr>
      <p:pic>
        <p:nvPicPr>
          <p:cNvPr id="125" name="Google Shape;125;p16" descr="image.png">
            <a:extLst>
              <a:ext uri="{FF2B5EF4-FFF2-40B4-BE49-F238E27FC236}">
                <a16:creationId xmlns:a16="http://schemas.microsoft.com/office/drawing/2014/main" id="{C0BB7DB7-ABF2-0FD2-8EBF-CFD9585222C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2" name="Google Shape;132;p16">
            <a:extLst>
              <a:ext uri="{FF2B5EF4-FFF2-40B4-BE49-F238E27FC236}">
                <a16:creationId xmlns:a16="http://schemas.microsoft.com/office/drawing/2014/main" id="{ED357EAB-97A1-5922-A33A-788A09C602A7}"/>
              </a:ext>
            </a:extLst>
          </p:cNvPr>
          <p:cNvSpPr txBox="1"/>
          <p:nvPr/>
        </p:nvSpPr>
        <p:spPr>
          <a:xfrm>
            <a:off x="6457950" y="4071937"/>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a:t>
            </a:r>
            <a:endParaRPr/>
          </a:p>
        </p:txBody>
      </p:sp>
      <p:sp>
        <p:nvSpPr>
          <p:cNvPr id="136" name="Google Shape;136;p16">
            <a:extLst>
              <a:ext uri="{FF2B5EF4-FFF2-40B4-BE49-F238E27FC236}">
                <a16:creationId xmlns:a16="http://schemas.microsoft.com/office/drawing/2014/main" id="{4296B011-D34D-26D6-003F-1B37E9514248}"/>
              </a:ext>
            </a:extLst>
          </p:cNvPr>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3000" b="1" i="0" u="none" strike="noStrike" cap="none" dirty="0">
                <a:solidFill>
                  <a:srgbClr val="1E3A8A"/>
                </a:solidFill>
                <a:latin typeface="Poppins"/>
                <a:ea typeface="Poppins"/>
                <a:cs typeface="Poppins"/>
                <a:sym typeface="Poppins"/>
              </a:rPr>
              <a:t>Compare with COMPAS</a:t>
            </a:r>
            <a:endParaRPr lang="en-US" altLang="zh-CN" sz="3200" dirty="0"/>
          </a:p>
        </p:txBody>
      </p:sp>
      <p:pic>
        <p:nvPicPr>
          <p:cNvPr id="2" name="图片 1">
            <a:extLst>
              <a:ext uri="{FF2B5EF4-FFF2-40B4-BE49-F238E27FC236}">
                <a16:creationId xmlns:a16="http://schemas.microsoft.com/office/drawing/2014/main" id="{41135D9F-6DDA-BC59-D136-BC922874B0C2}"/>
              </a:ext>
            </a:extLst>
          </p:cNvPr>
          <p:cNvPicPr>
            <a:picLocks noChangeAspect="1"/>
          </p:cNvPicPr>
          <p:nvPr/>
        </p:nvPicPr>
        <p:blipFill>
          <a:blip r:embed="rId4"/>
          <a:stretch>
            <a:fillRect/>
          </a:stretch>
        </p:blipFill>
        <p:spPr>
          <a:xfrm>
            <a:off x="84137" y="1033165"/>
            <a:ext cx="6049963" cy="2834113"/>
          </a:xfrm>
          <a:prstGeom prst="rect">
            <a:avLst/>
          </a:prstGeom>
        </p:spPr>
      </p:pic>
      <p:pic>
        <p:nvPicPr>
          <p:cNvPr id="6" name="图片 5">
            <a:extLst>
              <a:ext uri="{FF2B5EF4-FFF2-40B4-BE49-F238E27FC236}">
                <a16:creationId xmlns:a16="http://schemas.microsoft.com/office/drawing/2014/main" id="{A88B0FA3-BEE5-B832-4FF7-EC3307FF24B3}"/>
              </a:ext>
            </a:extLst>
          </p:cNvPr>
          <p:cNvPicPr>
            <a:picLocks noChangeAspect="1"/>
          </p:cNvPicPr>
          <p:nvPr/>
        </p:nvPicPr>
        <p:blipFill>
          <a:blip r:embed="rId5"/>
          <a:stretch>
            <a:fillRect/>
          </a:stretch>
        </p:blipFill>
        <p:spPr>
          <a:xfrm>
            <a:off x="5490345" y="3648725"/>
            <a:ext cx="6269778" cy="2937085"/>
          </a:xfrm>
          <a:prstGeom prst="rect">
            <a:avLst/>
          </a:prstGeom>
        </p:spPr>
      </p:pic>
      <p:sp>
        <p:nvSpPr>
          <p:cNvPr id="8" name="文本框 7">
            <a:extLst>
              <a:ext uri="{FF2B5EF4-FFF2-40B4-BE49-F238E27FC236}">
                <a16:creationId xmlns:a16="http://schemas.microsoft.com/office/drawing/2014/main" id="{D4CA5FEC-B9F2-3A4F-4B2F-2CC7DC86D939}"/>
              </a:ext>
            </a:extLst>
          </p:cNvPr>
          <p:cNvSpPr txBox="1"/>
          <p:nvPr/>
        </p:nvSpPr>
        <p:spPr>
          <a:xfrm>
            <a:off x="7145867" y="1337733"/>
            <a:ext cx="3833101" cy="830997"/>
          </a:xfrm>
          <a:prstGeom prst="rect">
            <a:avLst/>
          </a:prstGeom>
          <a:noFill/>
        </p:spPr>
        <p:txBody>
          <a:bodyPr wrap="none" rtlCol="0">
            <a:spAutoFit/>
          </a:bodyPr>
          <a:lstStyle/>
          <a:p>
            <a:r>
              <a:rPr kumimoji="1" lang="en-US" altLang="zh-CN" sz="2000" dirty="0"/>
              <a:t>AUC, Accuracy, FPR, FNR ……</a:t>
            </a:r>
          </a:p>
          <a:p>
            <a:pPr algn="ctr"/>
            <a:r>
              <a:rPr kumimoji="1" lang="en-US" altLang="zh-CN" sz="2800" dirty="0"/>
              <a:t>Useful?</a:t>
            </a:r>
            <a:endParaRPr kumimoji="1" lang="zh-CN" altLang="en-US" sz="2800" dirty="0"/>
          </a:p>
        </p:txBody>
      </p:sp>
    </p:spTree>
    <p:extLst>
      <p:ext uri="{BB962C8B-B14F-4D97-AF65-F5344CB8AC3E}">
        <p14:creationId xmlns:p14="http://schemas.microsoft.com/office/powerpoint/2010/main" val="1142597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pic>
        <p:nvPicPr>
          <p:cNvPr id="180" name="Google Shape;180;p20" descr="image.png"/>
          <p:cNvPicPr preferRelativeResize="0"/>
          <p:nvPr/>
        </p:nvPicPr>
        <p:blipFill rotWithShape="1">
          <a:blip r:embed="rId3">
            <a:alphaModFix/>
          </a:blip>
          <a:srcRect/>
          <a:stretch/>
        </p:blipFill>
        <p:spPr>
          <a:xfrm>
            <a:off x="0" y="12357"/>
            <a:ext cx="12192000" cy="6858000"/>
          </a:xfrm>
          <a:prstGeom prst="rect">
            <a:avLst/>
          </a:prstGeom>
          <a:noFill/>
          <a:ln>
            <a:noFill/>
          </a:ln>
        </p:spPr>
      </p:pic>
      <p:sp>
        <p:nvSpPr>
          <p:cNvPr id="181" name="Google Shape;181;p20"/>
          <p:cNvSpPr txBox="1"/>
          <p:nvPr/>
        </p:nvSpPr>
        <p:spPr>
          <a:xfrm>
            <a:off x="1628775" y="1960215"/>
            <a:ext cx="8686800" cy="363561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3150" b="0" i="0" u="none" strike="noStrike" cap="none" dirty="0">
                <a:solidFill>
                  <a:srgbClr val="1E293B"/>
                </a:solidFill>
                <a:latin typeface="Lato"/>
                <a:ea typeface="Lato"/>
                <a:cs typeface="Lato"/>
                <a:sym typeface="Lato"/>
              </a:rPr>
              <a:t>True algorithmic fairness is not about ignoring race but strictly balancing the metrics like False Positive Rate (FPR) and False Negative Rate (FNR) across demographics to substantially close the predictive gap.</a:t>
            </a:r>
            <a:endParaRPr dirty="0"/>
          </a:p>
        </p:txBody>
      </p:sp>
      <p:sp>
        <p:nvSpPr>
          <p:cNvPr id="183" name="Google Shape;183;p20"/>
          <p:cNvSpPr txBox="1"/>
          <p:nvPr/>
        </p:nvSpPr>
        <p:spPr>
          <a:xfrm>
            <a:off x="1209675" y="2341215"/>
            <a:ext cx="419100" cy="1714500"/>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9000" b="0" i="0" u="none" strike="noStrike" cap="none">
                <a:solidFill>
                  <a:srgbClr val="BFDBFE"/>
                </a:solidFill>
                <a:latin typeface="Poppins SemiBold"/>
                <a:ea typeface="Poppins SemiBold"/>
                <a:cs typeface="Poppins SemiBold"/>
                <a:sym typeface="Poppins SemiBold"/>
              </a:rPr>
              <a:t>"</a:t>
            </a:r>
            <a:endParaRPr/>
          </a:p>
        </p:txBody>
      </p:sp>
      <p:sp>
        <p:nvSpPr>
          <p:cNvPr id="184" name="Google Shape;184;p20"/>
          <p:cNvSpPr txBox="1"/>
          <p:nvPr/>
        </p:nvSpPr>
        <p:spPr>
          <a:xfrm>
            <a:off x="10563225" y="4960590"/>
            <a:ext cx="419100" cy="1714500"/>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9000" b="0" i="0" u="none" strike="noStrike" cap="none">
                <a:solidFill>
                  <a:srgbClr val="BFDBFE"/>
                </a:solidFill>
                <a:latin typeface="Poppins SemiBold"/>
                <a:ea typeface="Poppins SemiBold"/>
                <a:cs typeface="Poppins SemiBold"/>
                <a:sym typeface="Poppins SemiBold"/>
              </a:rPr>
              <a:t>"</a:t>
            </a:r>
            <a:endParaRPr/>
          </a:p>
        </p:txBody>
      </p:sp>
      <p:sp>
        <p:nvSpPr>
          <p:cNvPr id="185" name="Google Shape;185;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1E3A8A"/>
                </a:solidFill>
                <a:latin typeface="Poppins"/>
                <a:ea typeface="Poppins"/>
                <a:cs typeface="Poppins"/>
                <a:sym typeface="Poppins"/>
              </a:rPr>
              <a:t>Defining True Fairness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a:extLst>
            <a:ext uri="{FF2B5EF4-FFF2-40B4-BE49-F238E27FC236}">
              <a16:creationId xmlns:a16="http://schemas.microsoft.com/office/drawing/2014/main" id="{1F219EBA-4390-D410-58E5-1199BCE27E04}"/>
            </a:ext>
          </a:extLst>
        </p:cNvPr>
        <p:cNvGrpSpPr/>
        <p:nvPr/>
      </p:nvGrpSpPr>
      <p:grpSpPr>
        <a:xfrm>
          <a:off x="0" y="0"/>
          <a:ext cx="0" cy="0"/>
          <a:chOff x="0" y="0"/>
          <a:chExt cx="0" cy="0"/>
        </a:xfrm>
      </p:grpSpPr>
      <p:pic>
        <p:nvPicPr>
          <p:cNvPr id="125" name="Google Shape;125;p16" descr="image.png">
            <a:extLst>
              <a:ext uri="{FF2B5EF4-FFF2-40B4-BE49-F238E27FC236}">
                <a16:creationId xmlns:a16="http://schemas.microsoft.com/office/drawing/2014/main" id="{B341F800-936C-CC77-6EC7-5B6308D58E67}"/>
              </a:ext>
            </a:extLst>
          </p:cNvPr>
          <p:cNvPicPr preferRelativeResize="0"/>
          <p:nvPr/>
        </p:nvPicPr>
        <p:blipFill rotWithShape="1">
          <a:blip r:embed="rId3">
            <a:alphaModFix/>
          </a:blip>
          <a:srcRect/>
          <a:stretch/>
        </p:blipFill>
        <p:spPr>
          <a:xfrm>
            <a:off x="81650" y="0"/>
            <a:ext cx="12192000" cy="6858000"/>
          </a:xfrm>
          <a:prstGeom prst="rect">
            <a:avLst/>
          </a:prstGeom>
          <a:noFill/>
          <a:ln>
            <a:noFill/>
          </a:ln>
        </p:spPr>
      </p:pic>
      <p:sp>
        <p:nvSpPr>
          <p:cNvPr id="136" name="Google Shape;136;p16">
            <a:extLst>
              <a:ext uri="{FF2B5EF4-FFF2-40B4-BE49-F238E27FC236}">
                <a16:creationId xmlns:a16="http://schemas.microsoft.com/office/drawing/2014/main" id="{25F633AF-0863-D39E-7D1A-CC9703232AF5}"/>
              </a:ext>
            </a:extLst>
          </p:cNvPr>
          <p:cNvSpPr txBox="1"/>
          <p:nvPr/>
        </p:nvSpPr>
        <p:spPr>
          <a:xfrm>
            <a:off x="571499" y="571500"/>
            <a:ext cx="7488767"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1E3A8A"/>
                </a:solidFill>
                <a:latin typeface="Poppins"/>
                <a:ea typeface="Poppins"/>
                <a:cs typeface="Poppins"/>
                <a:sym typeface="Poppins"/>
              </a:rPr>
              <a:t>Compare with COMPAS</a:t>
            </a:r>
            <a:r>
              <a:rPr lang="zh-CN" altLang="en-US" sz="3000" b="1" i="0" u="none" strike="noStrike" cap="none" dirty="0">
                <a:solidFill>
                  <a:srgbClr val="1E3A8A"/>
                </a:solidFill>
                <a:latin typeface="Poppins"/>
                <a:ea typeface="Poppins"/>
                <a:cs typeface="Poppins"/>
                <a:sym typeface="Poppins"/>
              </a:rPr>
              <a:t> </a:t>
            </a:r>
            <a:r>
              <a:rPr lang="en-US" altLang="zh-CN" sz="3000" b="1" dirty="0">
                <a:solidFill>
                  <a:srgbClr val="1E3A8A"/>
                </a:solidFill>
                <a:latin typeface="Poppins"/>
                <a:ea typeface="Poppins"/>
                <a:cs typeface="Poppins"/>
                <a:sym typeface="Poppins"/>
              </a:rPr>
              <a:t>-- Fairness</a:t>
            </a:r>
            <a:endParaRPr dirty="0"/>
          </a:p>
        </p:txBody>
      </p:sp>
      <p:pic>
        <p:nvPicPr>
          <p:cNvPr id="9" name="图片 8">
            <a:extLst>
              <a:ext uri="{FF2B5EF4-FFF2-40B4-BE49-F238E27FC236}">
                <a16:creationId xmlns:a16="http://schemas.microsoft.com/office/drawing/2014/main" id="{182A88C7-6223-DDA9-1027-5DD3665CA9AE}"/>
              </a:ext>
            </a:extLst>
          </p:cNvPr>
          <p:cNvPicPr>
            <a:picLocks noChangeAspect="1"/>
          </p:cNvPicPr>
          <p:nvPr/>
        </p:nvPicPr>
        <p:blipFill>
          <a:blip r:embed="rId4"/>
          <a:stretch>
            <a:fillRect/>
          </a:stretch>
        </p:blipFill>
        <p:spPr>
          <a:xfrm>
            <a:off x="571500" y="1630431"/>
            <a:ext cx="10816759" cy="4461458"/>
          </a:xfrm>
          <a:prstGeom prst="rect">
            <a:avLst/>
          </a:prstGeom>
        </p:spPr>
      </p:pic>
    </p:spTree>
    <p:extLst>
      <p:ext uri="{BB962C8B-B14F-4D97-AF65-F5344CB8AC3E}">
        <p14:creationId xmlns:p14="http://schemas.microsoft.com/office/powerpoint/2010/main" val="3339851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a:extLst>
            <a:ext uri="{FF2B5EF4-FFF2-40B4-BE49-F238E27FC236}">
              <a16:creationId xmlns:a16="http://schemas.microsoft.com/office/drawing/2014/main" id="{4042467C-AA7E-CFE9-B0C7-9F07701E27D5}"/>
            </a:ext>
          </a:extLst>
        </p:cNvPr>
        <p:cNvGrpSpPr/>
        <p:nvPr/>
      </p:nvGrpSpPr>
      <p:grpSpPr>
        <a:xfrm>
          <a:off x="0" y="0"/>
          <a:ext cx="0" cy="0"/>
          <a:chOff x="0" y="0"/>
          <a:chExt cx="0" cy="0"/>
        </a:xfrm>
      </p:grpSpPr>
      <p:pic>
        <p:nvPicPr>
          <p:cNvPr id="125" name="Google Shape;125;p16" descr="image.png">
            <a:extLst>
              <a:ext uri="{FF2B5EF4-FFF2-40B4-BE49-F238E27FC236}">
                <a16:creationId xmlns:a16="http://schemas.microsoft.com/office/drawing/2014/main" id="{2BB53108-CD4D-DAE2-A436-A4D4FB922476}"/>
              </a:ext>
            </a:extLst>
          </p:cNvPr>
          <p:cNvPicPr preferRelativeResize="0"/>
          <p:nvPr/>
        </p:nvPicPr>
        <p:blipFill rotWithShape="1">
          <a:blip r:embed="rId3">
            <a:alphaModFix/>
          </a:blip>
          <a:srcRect/>
          <a:stretch/>
        </p:blipFill>
        <p:spPr>
          <a:xfrm>
            <a:off x="0" y="-26640"/>
            <a:ext cx="12192000" cy="6858000"/>
          </a:xfrm>
          <a:prstGeom prst="rect">
            <a:avLst/>
          </a:prstGeom>
          <a:noFill/>
          <a:ln>
            <a:noFill/>
          </a:ln>
        </p:spPr>
      </p:pic>
      <p:sp>
        <p:nvSpPr>
          <p:cNvPr id="136" name="Google Shape;136;p16">
            <a:extLst>
              <a:ext uri="{FF2B5EF4-FFF2-40B4-BE49-F238E27FC236}">
                <a16:creationId xmlns:a16="http://schemas.microsoft.com/office/drawing/2014/main" id="{F7B01304-C563-D01E-5093-686AF8EDAFCB}"/>
              </a:ext>
            </a:extLst>
          </p:cNvPr>
          <p:cNvSpPr txBox="1"/>
          <p:nvPr/>
        </p:nvSpPr>
        <p:spPr>
          <a:xfrm>
            <a:off x="571500" y="571500"/>
            <a:ext cx="552450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1E3A8A"/>
                </a:solidFill>
                <a:latin typeface="Poppins"/>
                <a:ea typeface="Poppins"/>
                <a:cs typeface="Poppins"/>
                <a:sym typeface="Poppins"/>
              </a:rPr>
              <a:t>About Threshold…</a:t>
            </a:r>
            <a:endParaRPr dirty="0"/>
          </a:p>
        </p:txBody>
      </p:sp>
      <p:sp>
        <p:nvSpPr>
          <p:cNvPr id="4" name="文本框 3">
            <a:extLst>
              <a:ext uri="{FF2B5EF4-FFF2-40B4-BE49-F238E27FC236}">
                <a16:creationId xmlns:a16="http://schemas.microsoft.com/office/drawing/2014/main" id="{FE17DC9A-F8D3-8D22-E373-C213EE2BE498}"/>
              </a:ext>
            </a:extLst>
          </p:cNvPr>
          <p:cNvSpPr txBox="1"/>
          <p:nvPr/>
        </p:nvSpPr>
        <p:spPr>
          <a:xfrm>
            <a:off x="7171265" y="1192662"/>
            <a:ext cx="4308161" cy="2246769"/>
          </a:xfrm>
          <a:prstGeom prst="rect">
            <a:avLst/>
          </a:prstGeom>
          <a:noFill/>
        </p:spPr>
        <p:txBody>
          <a:bodyPr wrap="square" rtlCol="0">
            <a:spAutoFit/>
          </a:bodyPr>
          <a:lstStyle/>
          <a:p>
            <a:r>
              <a:rPr lang="en" altLang="zh-CN" i="1" dirty="0">
                <a:latin typeface="Lato" panose="020F0502020204030203" pitchFamily="34" charset="0"/>
                <a:ea typeface="Lato" panose="020F0502020204030203" pitchFamily="34" charset="0"/>
                <a:cs typeface="Lato" panose="020F0502020204030203" pitchFamily="34" charset="0"/>
              </a:rPr>
              <a:t>For violent defendants, the judge is willing to reject the parole request of 4 non-recidivating defendants if it successfully stops 1 violent recidivist from getting released. (low FN, high recall)</a:t>
            </a:r>
          </a:p>
          <a:p>
            <a:endParaRPr lang="en" altLang="zh-CN" i="1" dirty="0">
              <a:latin typeface="Lato" panose="020F0502020204030203" pitchFamily="34" charset="0"/>
              <a:ea typeface="Lato" panose="020F0502020204030203" pitchFamily="34" charset="0"/>
              <a:cs typeface="Lato" panose="020F0502020204030203" pitchFamily="34" charset="0"/>
            </a:endParaRPr>
          </a:p>
          <a:p>
            <a:r>
              <a:rPr lang="en" altLang="zh-CN" i="1" dirty="0">
                <a:latin typeface="Lato" panose="020F0502020204030203" pitchFamily="34" charset="0"/>
                <a:ea typeface="Lato" panose="020F0502020204030203" pitchFamily="34" charset="0"/>
                <a:cs typeface="Lato" panose="020F0502020204030203" pitchFamily="34" charset="0"/>
              </a:rPr>
              <a:t>For non-violent defendants, the judge is only willing to reject the parole request of 1 non-recidivating defendant if it means preventing the early release of 3 non-violent defendants. (low FP, high precision)</a:t>
            </a:r>
          </a:p>
          <a:p>
            <a:endParaRPr kumimoji="1" lang="zh-CN" altLang="en-US" dirty="0">
              <a:latin typeface="Lato" panose="020F0502020204030203" pitchFamily="34" charset="0"/>
              <a:cs typeface="Lato" panose="020F0502020204030203" pitchFamily="34" charset="0"/>
            </a:endParaRPr>
          </a:p>
        </p:txBody>
      </p:sp>
      <p:sp>
        <p:nvSpPr>
          <p:cNvPr id="5" name="文本框 4">
            <a:extLst>
              <a:ext uri="{FF2B5EF4-FFF2-40B4-BE49-F238E27FC236}">
                <a16:creationId xmlns:a16="http://schemas.microsoft.com/office/drawing/2014/main" id="{EA1B043D-6C08-B922-4A5F-4829C2FC6258}"/>
              </a:ext>
            </a:extLst>
          </p:cNvPr>
          <p:cNvSpPr txBox="1"/>
          <p:nvPr/>
        </p:nvSpPr>
        <p:spPr>
          <a:xfrm>
            <a:off x="8017934" y="5156478"/>
            <a:ext cx="1874231" cy="523220"/>
          </a:xfrm>
          <a:prstGeom prst="rect">
            <a:avLst/>
          </a:prstGeom>
          <a:noFill/>
        </p:spPr>
        <p:txBody>
          <a:bodyPr wrap="none" rtlCol="0">
            <a:spAutoFit/>
          </a:bodyPr>
          <a:lstStyle/>
          <a:p>
            <a:r>
              <a:rPr kumimoji="1" lang="en-US" altLang="zh-CN" dirty="0"/>
              <a:t>For non-violent : 0.71</a:t>
            </a:r>
          </a:p>
          <a:p>
            <a:r>
              <a:rPr kumimoji="1" lang="en-US" altLang="zh-CN" dirty="0"/>
              <a:t>For violent : 0.5</a:t>
            </a:r>
            <a:endParaRPr kumimoji="1" lang="zh-CN" altLang="en-US" dirty="0"/>
          </a:p>
        </p:txBody>
      </p:sp>
      <p:pic>
        <p:nvPicPr>
          <p:cNvPr id="2" name="图片 1">
            <a:extLst>
              <a:ext uri="{FF2B5EF4-FFF2-40B4-BE49-F238E27FC236}">
                <a16:creationId xmlns:a16="http://schemas.microsoft.com/office/drawing/2014/main" id="{EE03342A-61E2-4372-9048-555C78E336C2}"/>
              </a:ext>
            </a:extLst>
          </p:cNvPr>
          <p:cNvPicPr>
            <a:picLocks noChangeAspect="1"/>
          </p:cNvPicPr>
          <p:nvPr/>
        </p:nvPicPr>
        <p:blipFill>
          <a:blip r:embed="rId4"/>
          <a:stretch>
            <a:fillRect/>
          </a:stretch>
        </p:blipFill>
        <p:spPr>
          <a:xfrm>
            <a:off x="448733" y="1577777"/>
            <a:ext cx="6146800" cy="4086225"/>
          </a:xfrm>
          <a:prstGeom prst="rect">
            <a:avLst/>
          </a:prstGeom>
        </p:spPr>
      </p:pic>
      <p:sp>
        <p:nvSpPr>
          <p:cNvPr id="6" name="文本框 5">
            <a:extLst>
              <a:ext uri="{FF2B5EF4-FFF2-40B4-BE49-F238E27FC236}">
                <a16:creationId xmlns:a16="http://schemas.microsoft.com/office/drawing/2014/main" id="{AF8FEEB6-107D-99BD-E0B0-720A7E80933B}"/>
              </a:ext>
            </a:extLst>
          </p:cNvPr>
          <p:cNvSpPr txBox="1"/>
          <p:nvPr/>
        </p:nvSpPr>
        <p:spPr>
          <a:xfrm>
            <a:off x="6808748" y="3481766"/>
            <a:ext cx="4986867" cy="369332"/>
          </a:xfrm>
          <a:prstGeom prst="rect">
            <a:avLst/>
          </a:prstGeom>
          <a:noFill/>
        </p:spPr>
        <p:txBody>
          <a:bodyPr wrap="square" rtlCol="0">
            <a:spAutoFit/>
          </a:bodyPr>
          <a:lstStyle/>
          <a:p>
            <a:r>
              <a:rPr kumimoji="1" lang="en-US" altLang="zh-CN" sz="1800" dirty="0"/>
              <a:t>But we need high recall for violent defendants</a:t>
            </a:r>
            <a:endParaRPr kumimoji="1" lang="zh-CN" altLang="en-US" sz="1800" dirty="0"/>
          </a:p>
        </p:txBody>
      </p:sp>
      <p:sp>
        <p:nvSpPr>
          <p:cNvPr id="7" name="下箭头 6">
            <a:extLst>
              <a:ext uri="{FF2B5EF4-FFF2-40B4-BE49-F238E27FC236}">
                <a16:creationId xmlns:a16="http://schemas.microsoft.com/office/drawing/2014/main" id="{17B9DD43-4D75-4331-58BD-AE94E4B8CD60}"/>
              </a:ext>
            </a:extLst>
          </p:cNvPr>
          <p:cNvSpPr/>
          <p:nvPr/>
        </p:nvSpPr>
        <p:spPr>
          <a:xfrm>
            <a:off x="8607915" y="4004732"/>
            <a:ext cx="694267" cy="110941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92850D52-4D69-EAB5-7258-81864125E564}"/>
              </a:ext>
            </a:extLst>
          </p:cNvPr>
          <p:cNvSpPr txBox="1"/>
          <p:nvPr/>
        </p:nvSpPr>
        <p:spPr>
          <a:xfrm>
            <a:off x="1922977" y="5839282"/>
            <a:ext cx="3198311" cy="738664"/>
          </a:xfrm>
          <a:prstGeom prst="rect">
            <a:avLst/>
          </a:prstGeom>
          <a:noFill/>
        </p:spPr>
        <p:txBody>
          <a:bodyPr wrap="none" rtlCol="0">
            <a:spAutoFit/>
          </a:bodyPr>
          <a:lstStyle/>
          <a:p>
            <a:r>
              <a:rPr kumimoji="1" lang="en-US" altLang="zh-CN" i="1" dirty="0"/>
              <a:t>Totalcost = (FN*</a:t>
            </a:r>
            <a:r>
              <a:rPr kumimoji="1" lang="en-US" altLang="zh-CN" i="1" dirty="0" err="1"/>
              <a:t>cost_fn</a:t>
            </a:r>
            <a:r>
              <a:rPr kumimoji="1" lang="en-US" altLang="zh-CN" i="1" dirty="0"/>
              <a:t>)+(</a:t>
            </a:r>
            <a:r>
              <a:rPr kumimoji="1" lang="en-US" altLang="zh-CN" i="1" dirty="0" err="1"/>
              <a:t>Fp</a:t>
            </a:r>
            <a:r>
              <a:rPr kumimoji="1" lang="en-US" altLang="zh-CN" i="1" dirty="0"/>
              <a:t>*</a:t>
            </a:r>
            <a:r>
              <a:rPr kumimoji="1" lang="en-US" altLang="zh-CN" i="1" dirty="0" err="1"/>
              <a:t>cost_fp</a:t>
            </a:r>
            <a:r>
              <a:rPr kumimoji="1" lang="en-US" altLang="zh-CN" i="1" dirty="0"/>
              <a:t>)</a:t>
            </a:r>
          </a:p>
          <a:p>
            <a:endParaRPr kumimoji="1" lang="en-US" altLang="zh-CN" i="1" dirty="0"/>
          </a:p>
          <a:p>
            <a:r>
              <a:rPr kumimoji="1" lang="en-US" altLang="zh-CN" i="1" dirty="0"/>
              <a:t>cost_fn, </a:t>
            </a:r>
            <a:r>
              <a:rPr kumimoji="1" lang="en-US" altLang="zh-CN" i="1" dirty="0" err="1"/>
              <a:t>cost_fp</a:t>
            </a:r>
            <a:r>
              <a:rPr kumimoji="1" lang="en-US" altLang="zh-CN" i="1" dirty="0"/>
              <a:t> = (4,1) or (1,3)</a:t>
            </a:r>
            <a:endParaRPr kumimoji="1" lang="zh-CN" altLang="en-US" i="1" dirty="0"/>
          </a:p>
        </p:txBody>
      </p:sp>
    </p:spTree>
    <p:extLst>
      <p:ext uri="{BB962C8B-B14F-4D97-AF65-F5344CB8AC3E}">
        <p14:creationId xmlns:p14="http://schemas.microsoft.com/office/powerpoint/2010/main" val="1192402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a:extLst>
            <a:ext uri="{FF2B5EF4-FFF2-40B4-BE49-F238E27FC236}">
              <a16:creationId xmlns:a16="http://schemas.microsoft.com/office/drawing/2014/main" id="{2AF5EBBA-4E28-66E4-7F66-F3FCC4FC2A52}"/>
            </a:ext>
          </a:extLst>
        </p:cNvPr>
        <p:cNvGrpSpPr/>
        <p:nvPr/>
      </p:nvGrpSpPr>
      <p:grpSpPr>
        <a:xfrm>
          <a:off x="0" y="0"/>
          <a:ext cx="0" cy="0"/>
          <a:chOff x="0" y="0"/>
          <a:chExt cx="0" cy="0"/>
        </a:xfrm>
      </p:grpSpPr>
      <p:pic>
        <p:nvPicPr>
          <p:cNvPr id="125" name="Google Shape;125;p16" descr="image.png">
            <a:extLst>
              <a:ext uri="{FF2B5EF4-FFF2-40B4-BE49-F238E27FC236}">
                <a16:creationId xmlns:a16="http://schemas.microsoft.com/office/drawing/2014/main" id="{8FDF6E6A-4E80-1502-6B95-B94030E1563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6" name="Google Shape;136;p16">
            <a:extLst>
              <a:ext uri="{FF2B5EF4-FFF2-40B4-BE49-F238E27FC236}">
                <a16:creationId xmlns:a16="http://schemas.microsoft.com/office/drawing/2014/main" id="{9B0CAD14-F393-84DC-266E-6F34144527B3}"/>
              </a:ext>
            </a:extLst>
          </p:cNvPr>
          <p:cNvSpPr txBox="1"/>
          <p:nvPr/>
        </p:nvSpPr>
        <p:spPr>
          <a:xfrm>
            <a:off x="571499" y="571500"/>
            <a:ext cx="7437967"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dirty="0">
                <a:solidFill>
                  <a:srgbClr val="1E3A8A"/>
                </a:solidFill>
                <a:latin typeface="Poppins"/>
                <a:cs typeface="Poppins"/>
                <a:sym typeface="Poppins"/>
              </a:rPr>
              <a:t>Interpretability and Explainability</a:t>
            </a:r>
            <a:endParaRPr dirty="0"/>
          </a:p>
        </p:txBody>
      </p:sp>
      <p:sp>
        <p:nvSpPr>
          <p:cNvPr id="9" name="Google Shape;131;p16">
            <a:extLst>
              <a:ext uri="{FF2B5EF4-FFF2-40B4-BE49-F238E27FC236}">
                <a16:creationId xmlns:a16="http://schemas.microsoft.com/office/drawing/2014/main" id="{2BA8EBCB-D61F-B992-88B2-AA6477A0E475}"/>
              </a:ext>
            </a:extLst>
          </p:cNvPr>
          <p:cNvSpPr txBox="1"/>
          <p:nvPr/>
        </p:nvSpPr>
        <p:spPr>
          <a:xfrm>
            <a:off x="5845915" y="1322288"/>
            <a:ext cx="4906752" cy="1329595"/>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334155"/>
                </a:solidFill>
                <a:latin typeface="Lato"/>
                <a:ea typeface="Lato"/>
                <a:cs typeface="Lato"/>
                <a:sym typeface="Lato"/>
              </a:rPr>
              <a:t>Our</a:t>
            </a:r>
            <a:r>
              <a:rPr lang="zh-CN" altLang="en-US" sz="1800" b="1" i="0" u="none" strike="noStrike" cap="none" dirty="0">
                <a:solidFill>
                  <a:srgbClr val="334155"/>
                </a:solidFill>
                <a:latin typeface="Lato"/>
                <a:ea typeface="Lato"/>
                <a:cs typeface="Lato"/>
                <a:sym typeface="Lato"/>
              </a:rPr>
              <a:t> </a:t>
            </a:r>
            <a:r>
              <a:rPr lang="en-US" altLang="zh-CN" sz="1800" b="1" dirty="0">
                <a:solidFill>
                  <a:srgbClr val="334155"/>
                </a:solidFill>
                <a:latin typeface="Lato"/>
                <a:ea typeface="Lato"/>
                <a:cs typeface="Lato"/>
                <a:sym typeface="Lato"/>
              </a:rPr>
              <a:t>prediction</a:t>
            </a:r>
            <a:r>
              <a:rPr lang="en-US" sz="1800" b="1" i="0" u="none" strike="noStrike" cap="none" dirty="0">
                <a:solidFill>
                  <a:srgbClr val="334155"/>
                </a:solidFill>
                <a:latin typeface="Lato"/>
                <a:ea typeface="Lato"/>
                <a:cs typeface="Lato"/>
                <a:sym typeface="Lato"/>
              </a:rPr>
              <a:t>:</a:t>
            </a:r>
            <a:r>
              <a:rPr lang="en-US" sz="1800" b="0" i="0" u="none" strike="noStrike" cap="none" dirty="0">
                <a:solidFill>
                  <a:srgbClr val="334155"/>
                </a:solidFill>
                <a:latin typeface="Lato"/>
                <a:ea typeface="Lato"/>
                <a:cs typeface="Lato"/>
                <a:sym typeface="Lato"/>
              </a:rPr>
              <a:t>   </a:t>
            </a:r>
            <a:r>
              <a:rPr lang="en" altLang="zh-CN" sz="1800" dirty="0">
                <a:solidFill>
                  <a:srgbClr val="334155"/>
                </a:solidFill>
                <a:latin typeface="Lato"/>
                <a:ea typeface="Lato"/>
                <a:cs typeface="Lato"/>
              </a:rPr>
              <a:t>P(violent=1)): 0.3926</a:t>
            </a:r>
          </a:p>
          <a:p>
            <a:pPr marL="0" marR="0" lvl="0" indent="0" algn="l" rtl="0">
              <a:lnSpc>
                <a:spcPct val="160000"/>
              </a:lnSpc>
              <a:spcBef>
                <a:spcPts val="0"/>
              </a:spcBef>
              <a:spcAft>
                <a:spcPts val="0"/>
              </a:spcAft>
              <a:buNone/>
            </a:pPr>
            <a:r>
              <a:rPr lang="en" altLang="zh-CN" sz="1800" dirty="0">
                <a:solidFill>
                  <a:srgbClr val="334155"/>
                </a:solidFill>
                <a:latin typeface="Lato"/>
                <a:ea typeface="Lato"/>
                <a:cs typeface="Lato"/>
              </a:rPr>
              <a:t>	           P(non-violent=1)): 0.3322 </a:t>
            </a:r>
            <a:br>
              <a:rPr lang="en" altLang="zh-CN" sz="1800" dirty="0"/>
            </a:br>
            <a:endParaRPr sz="1800" dirty="0"/>
          </a:p>
        </p:txBody>
      </p:sp>
      <p:sp>
        <p:nvSpPr>
          <p:cNvPr id="10" name="Google Shape;131;p16">
            <a:extLst>
              <a:ext uri="{FF2B5EF4-FFF2-40B4-BE49-F238E27FC236}">
                <a16:creationId xmlns:a16="http://schemas.microsoft.com/office/drawing/2014/main" id="{61E9548D-EA8D-B641-2D2D-D864268ADFE4}"/>
              </a:ext>
            </a:extLst>
          </p:cNvPr>
          <p:cNvSpPr txBox="1"/>
          <p:nvPr/>
        </p:nvSpPr>
        <p:spPr>
          <a:xfrm>
            <a:off x="5845915" y="2354863"/>
            <a:ext cx="5048250" cy="886397"/>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334155"/>
                </a:solidFill>
                <a:latin typeface="Lato"/>
                <a:ea typeface="Lato"/>
                <a:cs typeface="Lato"/>
                <a:sym typeface="Lato"/>
              </a:rPr>
              <a:t>I</a:t>
            </a:r>
            <a:r>
              <a:rPr lang="en-US" sz="1800" b="1" dirty="0">
                <a:solidFill>
                  <a:srgbClr val="334155"/>
                </a:solidFill>
                <a:latin typeface="Lato"/>
                <a:ea typeface="Lato"/>
                <a:cs typeface="Lato"/>
                <a:sym typeface="Lato"/>
              </a:rPr>
              <a:t>n Data Set</a:t>
            </a:r>
            <a:r>
              <a:rPr lang="en-US" sz="1800" b="1" i="0" u="none" strike="noStrike" cap="none" dirty="0">
                <a:solidFill>
                  <a:srgbClr val="334155"/>
                </a:solidFill>
                <a:latin typeface="Lato"/>
                <a:ea typeface="Lato"/>
                <a:cs typeface="Lato"/>
                <a:sym typeface="Lato"/>
              </a:rPr>
              <a:t>:</a:t>
            </a:r>
            <a:r>
              <a:rPr lang="en-US" sz="1800" b="0" i="0" u="none" strike="noStrike" cap="none" dirty="0">
                <a:solidFill>
                  <a:srgbClr val="334155"/>
                </a:solidFill>
                <a:latin typeface="Lato"/>
                <a:ea typeface="Lato"/>
                <a:cs typeface="Lato"/>
                <a:sym typeface="Lato"/>
              </a:rPr>
              <a:t> Did not recidivate in 2 years </a:t>
            </a:r>
          </a:p>
          <a:p>
            <a:pPr marL="0" marR="0" lvl="0" indent="0" algn="l" rtl="0">
              <a:lnSpc>
                <a:spcPct val="160000"/>
              </a:lnSpc>
              <a:spcBef>
                <a:spcPts val="0"/>
              </a:spcBef>
              <a:spcAft>
                <a:spcPts val="0"/>
              </a:spcAft>
              <a:buNone/>
            </a:pPr>
            <a:r>
              <a:rPr lang="en-US" sz="1800" dirty="0">
                <a:solidFill>
                  <a:srgbClr val="334155"/>
                </a:solidFill>
                <a:latin typeface="Lato"/>
                <a:ea typeface="Lato"/>
                <a:cs typeface="Lato"/>
                <a:sym typeface="Lato"/>
              </a:rPr>
              <a:t>	      </a:t>
            </a:r>
            <a:r>
              <a:rPr lang="en-US" sz="1800" b="0" i="1" u="none" strike="noStrike" cap="none" dirty="0">
                <a:solidFill>
                  <a:srgbClr val="334155"/>
                </a:solidFill>
                <a:latin typeface="Lato"/>
                <a:ea typeface="Lato"/>
                <a:cs typeface="Lato"/>
                <a:sym typeface="Lato"/>
              </a:rPr>
              <a:t>(two_year</a:t>
            </a:r>
            <a:r>
              <a:rPr lang="en-US" sz="1800" i="1" dirty="0">
                <a:solidFill>
                  <a:srgbClr val="334155"/>
                </a:solidFill>
                <a:latin typeface="Lato"/>
                <a:ea typeface="Lato"/>
                <a:cs typeface="Lato"/>
                <a:sym typeface="Lato"/>
              </a:rPr>
              <a:t>_recid = 0)</a:t>
            </a:r>
            <a:endParaRPr sz="1800" i="1" dirty="0"/>
          </a:p>
        </p:txBody>
      </p:sp>
      <p:grpSp>
        <p:nvGrpSpPr>
          <p:cNvPr id="16" name="组合 15">
            <a:extLst>
              <a:ext uri="{FF2B5EF4-FFF2-40B4-BE49-F238E27FC236}">
                <a16:creationId xmlns:a16="http://schemas.microsoft.com/office/drawing/2014/main" id="{510A4F07-1F92-DEFD-E243-741F8590E44C}"/>
              </a:ext>
            </a:extLst>
          </p:cNvPr>
          <p:cNvGrpSpPr/>
          <p:nvPr/>
        </p:nvGrpSpPr>
        <p:grpSpPr>
          <a:xfrm>
            <a:off x="1098072" y="1017369"/>
            <a:ext cx="3081867" cy="5269131"/>
            <a:chOff x="963691" y="1322288"/>
            <a:chExt cx="3081867" cy="5269131"/>
          </a:xfrm>
        </p:grpSpPr>
        <p:grpSp>
          <p:nvGrpSpPr>
            <p:cNvPr id="7" name="组合 6">
              <a:extLst>
                <a:ext uri="{FF2B5EF4-FFF2-40B4-BE49-F238E27FC236}">
                  <a16:creationId xmlns:a16="http://schemas.microsoft.com/office/drawing/2014/main" id="{95A395D2-3D39-866B-DD73-847F3E3D0EC9}"/>
                </a:ext>
              </a:extLst>
            </p:cNvPr>
            <p:cNvGrpSpPr/>
            <p:nvPr/>
          </p:nvGrpSpPr>
          <p:grpSpPr>
            <a:xfrm>
              <a:off x="963691" y="1322288"/>
              <a:ext cx="3081867" cy="4622800"/>
              <a:chOff x="963691" y="1136021"/>
              <a:chExt cx="3081867" cy="4622800"/>
            </a:xfrm>
          </p:grpSpPr>
          <p:pic>
            <p:nvPicPr>
              <p:cNvPr id="2" name="图片 1">
                <a:extLst>
                  <a:ext uri="{FF2B5EF4-FFF2-40B4-BE49-F238E27FC236}">
                    <a16:creationId xmlns:a16="http://schemas.microsoft.com/office/drawing/2014/main" id="{63C89640-CE47-3042-95DC-3F2151667F7A}"/>
                  </a:ext>
                </a:extLst>
              </p:cNvPr>
              <p:cNvPicPr>
                <a:picLocks noChangeAspect="1"/>
              </p:cNvPicPr>
              <p:nvPr/>
            </p:nvPicPr>
            <p:blipFill>
              <a:blip r:embed="rId4"/>
              <a:stretch>
                <a:fillRect/>
              </a:stretch>
            </p:blipFill>
            <p:spPr>
              <a:xfrm>
                <a:off x="963691" y="1136021"/>
                <a:ext cx="3081867" cy="4622800"/>
              </a:xfrm>
              <a:prstGeom prst="rect">
                <a:avLst/>
              </a:prstGeom>
            </p:spPr>
          </p:pic>
          <p:sp>
            <p:nvSpPr>
              <p:cNvPr id="6" name="文本框 5">
                <a:extLst>
                  <a:ext uri="{FF2B5EF4-FFF2-40B4-BE49-F238E27FC236}">
                    <a16:creationId xmlns:a16="http://schemas.microsoft.com/office/drawing/2014/main" id="{B15A29F1-93FC-AFE2-210A-F0A379563ED7}"/>
                  </a:ext>
                </a:extLst>
              </p:cNvPr>
              <p:cNvSpPr txBox="1"/>
              <p:nvPr/>
            </p:nvSpPr>
            <p:spPr>
              <a:xfrm>
                <a:off x="1482934" y="5164667"/>
                <a:ext cx="2044149" cy="369332"/>
              </a:xfrm>
              <a:prstGeom prst="rect">
                <a:avLst/>
              </a:prstGeom>
              <a:noFill/>
            </p:spPr>
            <p:txBody>
              <a:bodyPr wrap="none" rtlCol="0">
                <a:spAutoFit/>
              </a:bodyPr>
              <a:lstStyle/>
              <a:p>
                <a:r>
                  <a:rPr kumimoji="1" lang="en-US" altLang="zh-CN" sz="1800" dirty="0"/>
                  <a:t>Markee</a:t>
                </a:r>
                <a:r>
                  <a:rPr kumimoji="1" lang="zh-CN" altLang="en-US" sz="1800" dirty="0"/>
                  <a:t> </a:t>
                </a:r>
                <a:r>
                  <a:rPr kumimoji="1" lang="en-US" altLang="zh-CN" sz="1800" dirty="0"/>
                  <a:t>Singletary</a:t>
                </a:r>
                <a:endParaRPr kumimoji="1" lang="zh-CN" altLang="en-US" sz="1800" dirty="0"/>
              </a:p>
            </p:txBody>
          </p:sp>
        </p:grpSp>
        <p:sp>
          <p:nvSpPr>
            <p:cNvPr id="11" name="文本框 10">
              <a:extLst>
                <a:ext uri="{FF2B5EF4-FFF2-40B4-BE49-F238E27FC236}">
                  <a16:creationId xmlns:a16="http://schemas.microsoft.com/office/drawing/2014/main" id="{67E6B65B-62FD-E11E-A564-8C23831973EC}"/>
                </a:ext>
              </a:extLst>
            </p:cNvPr>
            <p:cNvSpPr txBox="1"/>
            <p:nvPr/>
          </p:nvSpPr>
          <p:spPr>
            <a:xfrm>
              <a:off x="1168400" y="5945088"/>
              <a:ext cx="2178802" cy="646331"/>
            </a:xfrm>
            <a:prstGeom prst="rect">
              <a:avLst/>
            </a:prstGeom>
            <a:noFill/>
          </p:spPr>
          <p:txBody>
            <a:bodyPr wrap="none" rtlCol="0">
              <a:spAutoFit/>
            </a:bodyPr>
            <a:lstStyle/>
            <a:p>
              <a:r>
                <a:rPr kumimoji="1" lang="en-US" altLang="zh-CN" sz="1800" i="1" dirty="0"/>
                <a:t>Is_recid = 0</a:t>
              </a:r>
            </a:p>
            <a:p>
              <a:r>
                <a:rPr kumimoji="1" lang="en-US" altLang="zh-CN" sz="1800" i="1" dirty="0"/>
                <a:t>Is_violent_recid = 0</a:t>
              </a:r>
            </a:p>
          </p:txBody>
        </p:sp>
      </p:grpSp>
      <p:sp>
        <p:nvSpPr>
          <p:cNvPr id="12" name="Google Shape;131;p16">
            <a:extLst>
              <a:ext uri="{FF2B5EF4-FFF2-40B4-BE49-F238E27FC236}">
                <a16:creationId xmlns:a16="http://schemas.microsoft.com/office/drawing/2014/main" id="{5AF1099B-DB62-3166-DC38-7C9E0EE57A3B}"/>
              </a:ext>
            </a:extLst>
          </p:cNvPr>
          <p:cNvSpPr txBox="1"/>
          <p:nvPr/>
        </p:nvSpPr>
        <p:spPr>
          <a:xfrm>
            <a:off x="5845915" y="3438827"/>
            <a:ext cx="5048250" cy="886397"/>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334155"/>
                </a:solidFill>
                <a:latin typeface="Lato"/>
                <a:ea typeface="Lato"/>
                <a:cs typeface="Lato"/>
                <a:sym typeface="Lato"/>
              </a:rPr>
              <a:t>COMPAS:</a:t>
            </a:r>
            <a:r>
              <a:rPr lang="zh-CN" altLang="en-US" sz="1800" b="1" i="0" u="none" strike="noStrike" cap="none" dirty="0">
                <a:solidFill>
                  <a:srgbClr val="334155"/>
                </a:solidFill>
                <a:latin typeface="Lato"/>
                <a:ea typeface="Lato"/>
                <a:cs typeface="Lato"/>
                <a:sym typeface="Lato"/>
              </a:rPr>
              <a:t> </a:t>
            </a:r>
            <a:r>
              <a:rPr lang="en-US" altLang="zh-CN" sz="1800" i="0" u="none" strike="noStrike" cap="none" dirty="0">
                <a:solidFill>
                  <a:srgbClr val="334155"/>
                </a:solidFill>
                <a:latin typeface="Lato"/>
                <a:ea typeface="Lato"/>
                <a:cs typeface="Lato"/>
                <a:sym typeface="Lato"/>
              </a:rPr>
              <a:t>score = 2         get LOW text level</a:t>
            </a:r>
          </a:p>
          <a:p>
            <a:pPr marL="0" marR="0" lvl="0" indent="0" algn="l" rtl="0">
              <a:lnSpc>
                <a:spcPct val="160000"/>
              </a:lnSpc>
              <a:spcBef>
                <a:spcPts val="0"/>
              </a:spcBef>
              <a:spcAft>
                <a:spcPts val="0"/>
              </a:spcAft>
              <a:buNone/>
            </a:pPr>
            <a:r>
              <a:rPr lang="en-US" altLang="zh-CN" sz="1800" i="0" u="none" strike="noStrike" cap="none" dirty="0">
                <a:solidFill>
                  <a:srgbClr val="334155"/>
                </a:solidFill>
                <a:latin typeface="Lato"/>
                <a:ea typeface="Lato"/>
                <a:cs typeface="Lato"/>
                <a:sym typeface="Lato"/>
              </a:rPr>
              <a:t>                   v_score = 2       get LOW text level</a:t>
            </a:r>
            <a:endParaRPr sz="1800" i="1" dirty="0"/>
          </a:p>
        </p:txBody>
      </p:sp>
      <p:sp>
        <p:nvSpPr>
          <p:cNvPr id="14" name="Google Shape;131;p16">
            <a:extLst>
              <a:ext uri="{FF2B5EF4-FFF2-40B4-BE49-F238E27FC236}">
                <a16:creationId xmlns:a16="http://schemas.microsoft.com/office/drawing/2014/main" id="{6DCABEF4-1425-8879-2900-2AFF861CD07E}"/>
              </a:ext>
            </a:extLst>
          </p:cNvPr>
          <p:cNvSpPr txBox="1"/>
          <p:nvPr/>
        </p:nvSpPr>
        <p:spPr>
          <a:xfrm>
            <a:off x="5845915" y="5263724"/>
            <a:ext cx="5048250" cy="443198"/>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800" b="1" dirty="0">
                <a:solidFill>
                  <a:srgbClr val="334155"/>
                </a:solidFill>
                <a:latin typeface="Lato"/>
                <a:ea typeface="Lato"/>
                <a:cs typeface="Lato"/>
                <a:sym typeface="Lato"/>
              </a:rPr>
              <a:t>Under Our Threshold</a:t>
            </a:r>
            <a:r>
              <a:rPr lang="en-US" sz="1800" i="0" u="none" strike="noStrike" cap="none" dirty="0">
                <a:solidFill>
                  <a:srgbClr val="334155"/>
                </a:solidFill>
                <a:latin typeface="Lato"/>
                <a:ea typeface="Lato"/>
                <a:cs typeface="Lato"/>
                <a:sym typeface="Lato"/>
              </a:rPr>
              <a:t>: Low risk defendant </a:t>
            </a:r>
            <a:endParaRPr sz="1800" i="1" dirty="0"/>
          </a:p>
        </p:txBody>
      </p:sp>
      <p:sp>
        <p:nvSpPr>
          <p:cNvPr id="15" name="Google Shape;131;p16">
            <a:extLst>
              <a:ext uri="{FF2B5EF4-FFF2-40B4-BE49-F238E27FC236}">
                <a16:creationId xmlns:a16="http://schemas.microsoft.com/office/drawing/2014/main" id="{FDAD978D-1652-2E49-D72D-6C556B71DEC5}"/>
              </a:ext>
            </a:extLst>
          </p:cNvPr>
          <p:cNvSpPr txBox="1"/>
          <p:nvPr/>
        </p:nvSpPr>
        <p:spPr>
          <a:xfrm>
            <a:off x="5845915" y="4420916"/>
            <a:ext cx="5321618" cy="886397"/>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800" b="1" dirty="0">
                <a:solidFill>
                  <a:srgbClr val="334155"/>
                </a:solidFill>
                <a:latin typeface="Lato"/>
                <a:ea typeface="Lato"/>
                <a:cs typeface="Lato"/>
                <a:sym typeface="Lato"/>
              </a:rPr>
              <a:t>Threshold</a:t>
            </a:r>
            <a:r>
              <a:rPr lang="en-US" sz="1800" i="0" u="none" strike="noStrike" cap="none" dirty="0">
                <a:solidFill>
                  <a:srgbClr val="334155"/>
                </a:solidFill>
                <a:latin typeface="Lato"/>
                <a:ea typeface="Lato"/>
                <a:cs typeface="Lato"/>
                <a:sym typeface="Lato"/>
              </a:rPr>
              <a:t>: 0. </a:t>
            </a:r>
            <a:r>
              <a:rPr lang="en-US" altLang="zh-CN" sz="1800" i="0" u="none" strike="noStrike" cap="none" dirty="0">
                <a:solidFill>
                  <a:srgbClr val="334155"/>
                </a:solidFill>
                <a:latin typeface="Lato"/>
                <a:ea typeface="Lato"/>
                <a:cs typeface="Lato"/>
                <a:sym typeface="Lato"/>
              </a:rPr>
              <a:t>71</a:t>
            </a:r>
            <a:r>
              <a:rPr lang="en-US" sz="1800" i="0" u="none" strike="noStrike" cap="none" dirty="0">
                <a:solidFill>
                  <a:srgbClr val="334155"/>
                </a:solidFill>
                <a:latin typeface="Lato"/>
                <a:ea typeface="Lato"/>
                <a:cs typeface="Lato"/>
                <a:sym typeface="Lato"/>
              </a:rPr>
              <a:t>(non-violent: to get best Precision)                    	    0.</a:t>
            </a:r>
            <a:r>
              <a:rPr lang="en-US" altLang="zh-CN" sz="1800" i="0" u="none" strike="noStrike" cap="none" dirty="0">
                <a:solidFill>
                  <a:srgbClr val="334155"/>
                </a:solidFill>
                <a:latin typeface="Lato"/>
                <a:ea typeface="Lato"/>
                <a:cs typeface="Lato"/>
                <a:sym typeface="Lato"/>
              </a:rPr>
              <a:t>5</a:t>
            </a:r>
            <a:r>
              <a:rPr lang="en-US" sz="1800" i="0" u="none" strike="noStrike" cap="none" dirty="0">
                <a:solidFill>
                  <a:srgbClr val="334155"/>
                </a:solidFill>
                <a:latin typeface="Lato"/>
                <a:ea typeface="Lato"/>
                <a:cs typeface="Lato"/>
                <a:sym typeface="Lato"/>
              </a:rPr>
              <a:t> (violent: to get best Recall) </a:t>
            </a:r>
            <a:endParaRPr sz="1800" i="1" dirty="0"/>
          </a:p>
        </p:txBody>
      </p:sp>
    </p:spTree>
    <p:extLst>
      <p:ext uri="{BB962C8B-B14F-4D97-AF65-F5344CB8AC3E}">
        <p14:creationId xmlns:p14="http://schemas.microsoft.com/office/powerpoint/2010/main" val="2128765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a:extLst>
            <a:ext uri="{FF2B5EF4-FFF2-40B4-BE49-F238E27FC236}">
              <a16:creationId xmlns:a16="http://schemas.microsoft.com/office/drawing/2014/main" id="{DE6164DA-F098-3D75-771E-D0AE06531A51}"/>
            </a:ext>
          </a:extLst>
        </p:cNvPr>
        <p:cNvGrpSpPr/>
        <p:nvPr/>
      </p:nvGrpSpPr>
      <p:grpSpPr>
        <a:xfrm>
          <a:off x="0" y="0"/>
          <a:ext cx="0" cy="0"/>
          <a:chOff x="0" y="0"/>
          <a:chExt cx="0" cy="0"/>
        </a:xfrm>
      </p:grpSpPr>
      <p:pic>
        <p:nvPicPr>
          <p:cNvPr id="125" name="Google Shape;125;p16" descr="image.png">
            <a:extLst>
              <a:ext uri="{FF2B5EF4-FFF2-40B4-BE49-F238E27FC236}">
                <a16:creationId xmlns:a16="http://schemas.microsoft.com/office/drawing/2014/main" id="{11B5A041-1171-51C2-F308-A3FFA42462F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6" name="Google Shape;136;p16">
            <a:extLst>
              <a:ext uri="{FF2B5EF4-FFF2-40B4-BE49-F238E27FC236}">
                <a16:creationId xmlns:a16="http://schemas.microsoft.com/office/drawing/2014/main" id="{0045B651-B36F-A68B-CD20-9797A406DEB3}"/>
              </a:ext>
            </a:extLst>
          </p:cNvPr>
          <p:cNvSpPr txBox="1"/>
          <p:nvPr/>
        </p:nvSpPr>
        <p:spPr>
          <a:xfrm>
            <a:off x="571499" y="571500"/>
            <a:ext cx="7437967"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dirty="0">
                <a:solidFill>
                  <a:srgbClr val="1E3A8A"/>
                </a:solidFill>
                <a:latin typeface="Poppins"/>
                <a:cs typeface="Poppins"/>
                <a:sym typeface="Poppins"/>
              </a:rPr>
              <a:t>Interpretability and Explainability</a:t>
            </a:r>
            <a:endParaRPr dirty="0"/>
          </a:p>
        </p:txBody>
      </p:sp>
      <p:pic>
        <p:nvPicPr>
          <p:cNvPr id="3" name="图片 2">
            <a:extLst>
              <a:ext uri="{FF2B5EF4-FFF2-40B4-BE49-F238E27FC236}">
                <a16:creationId xmlns:a16="http://schemas.microsoft.com/office/drawing/2014/main" id="{5483A242-4BC2-B59C-3875-90469D50F3C7}"/>
              </a:ext>
            </a:extLst>
          </p:cNvPr>
          <p:cNvPicPr>
            <a:picLocks noChangeAspect="1"/>
          </p:cNvPicPr>
          <p:nvPr/>
        </p:nvPicPr>
        <p:blipFill>
          <a:blip r:embed="rId4"/>
          <a:stretch>
            <a:fillRect/>
          </a:stretch>
        </p:blipFill>
        <p:spPr>
          <a:xfrm>
            <a:off x="153880" y="1217835"/>
            <a:ext cx="8400214" cy="4781101"/>
          </a:xfrm>
          <a:prstGeom prst="rect">
            <a:avLst/>
          </a:prstGeom>
        </p:spPr>
      </p:pic>
      <p:sp>
        <p:nvSpPr>
          <p:cNvPr id="5" name="文本框 4">
            <a:extLst>
              <a:ext uri="{FF2B5EF4-FFF2-40B4-BE49-F238E27FC236}">
                <a16:creationId xmlns:a16="http://schemas.microsoft.com/office/drawing/2014/main" id="{8083BC9C-55AD-F21F-1152-0613082B8479}"/>
              </a:ext>
            </a:extLst>
          </p:cNvPr>
          <p:cNvSpPr txBox="1"/>
          <p:nvPr/>
        </p:nvSpPr>
        <p:spPr>
          <a:xfrm>
            <a:off x="9517639" y="710899"/>
            <a:ext cx="1617751" cy="338554"/>
          </a:xfrm>
          <a:prstGeom prst="rect">
            <a:avLst/>
          </a:prstGeom>
          <a:noFill/>
        </p:spPr>
        <p:txBody>
          <a:bodyPr wrap="none" rtlCol="0">
            <a:spAutoFit/>
          </a:bodyPr>
          <a:lstStyle/>
          <a:p>
            <a:r>
              <a:rPr kumimoji="1" lang="en-US" altLang="zh-CN" sz="1600" b="1" dirty="0">
                <a:latin typeface="Lato" panose="020F0502020204030203" pitchFamily="34" charset="0"/>
                <a:ea typeface="Lato" panose="020F0502020204030203" pitchFamily="34" charset="0"/>
                <a:cs typeface="Lato" panose="020F0502020204030203" pitchFamily="34" charset="0"/>
              </a:rPr>
              <a:t>Key Risk Factor</a:t>
            </a:r>
            <a:endParaRPr kumimoji="1" lang="zh-CN" altLang="en-US" sz="1600" b="1" dirty="0">
              <a:latin typeface="Lato" panose="020F0502020204030203" pitchFamily="34" charset="0"/>
              <a:cs typeface="Lato" panose="020F0502020204030203" pitchFamily="34" charset="0"/>
            </a:endParaRPr>
          </a:p>
        </p:txBody>
      </p:sp>
      <p:sp>
        <p:nvSpPr>
          <p:cNvPr id="8" name="文本框 7">
            <a:extLst>
              <a:ext uri="{FF2B5EF4-FFF2-40B4-BE49-F238E27FC236}">
                <a16:creationId xmlns:a16="http://schemas.microsoft.com/office/drawing/2014/main" id="{B0D93A4E-25E7-558F-50F7-EBB1A974B983}"/>
              </a:ext>
            </a:extLst>
          </p:cNvPr>
          <p:cNvSpPr txBox="1"/>
          <p:nvPr/>
        </p:nvSpPr>
        <p:spPr>
          <a:xfrm>
            <a:off x="8890000" y="1217835"/>
            <a:ext cx="2929467" cy="954107"/>
          </a:xfrm>
          <a:prstGeom prst="rect">
            <a:avLst/>
          </a:prstGeom>
          <a:noFill/>
        </p:spPr>
        <p:txBody>
          <a:bodyPr wrap="square" rtlCol="0">
            <a:spAutoFit/>
          </a:bodyPr>
          <a:lstStyle/>
          <a:p>
            <a:r>
              <a:rPr lang="en-US" altLang="zh-CN" b="1" dirty="0">
                <a:latin typeface="Lato" panose="020F0502020204030203" pitchFamily="34" charset="0"/>
                <a:ea typeface="Lato" panose="020F0502020204030203" pitchFamily="34" charset="0"/>
                <a:cs typeface="Lato" panose="020F0502020204030203" pitchFamily="34" charset="0"/>
              </a:rPr>
              <a:t>Prior count</a:t>
            </a:r>
          </a:p>
          <a:p>
            <a:r>
              <a:rPr lang="en-US" altLang="zh-CN" dirty="0">
                <a:latin typeface="Lato" panose="020F0502020204030203" pitchFamily="34" charset="0"/>
                <a:ea typeface="Lato" panose="020F0502020204030203" pitchFamily="34" charset="0"/>
                <a:cs typeface="Lato" panose="020F0502020204030203" pitchFamily="34" charset="0"/>
                <a:sym typeface="Lato"/>
              </a:rPr>
              <a:t>Strongest predictor. Individuals with more previous convictions are statistically more likely to reoffend.</a:t>
            </a:r>
            <a:endParaRPr lang="zh-CN" altLang="en-US" dirty="0">
              <a:latin typeface="Lato" panose="020F0502020204030203" pitchFamily="34" charset="0"/>
              <a:cs typeface="Lato" panose="020F0502020204030203" pitchFamily="34" charset="0"/>
            </a:endParaRPr>
          </a:p>
        </p:txBody>
      </p:sp>
      <p:sp>
        <p:nvSpPr>
          <p:cNvPr id="13" name="文本框 12">
            <a:extLst>
              <a:ext uri="{FF2B5EF4-FFF2-40B4-BE49-F238E27FC236}">
                <a16:creationId xmlns:a16="http://schemas.microsoft.com/office/drawing/2014/main" id="{4B89E37F-17CF-D7FC-B1C0-E9797D6B575E}"/>
              </a:ext>
            </a:extLst>
          </p:cNvPr>
          <p:cNvSpPr txBox="1"/>
          <p:nvPr/>
        </p:nvSpPr>
        <p:spPr>
          <a:xfrm>
            <a:off x="8890000" y="2281862"/>
            <a:ext cx="2929467" cy="1384995"/>
          </a:xfrm>
          <a:prstGeom prst="rect">
            <a:avLst/>
          </a:prstGeom>
          <a:noFill/>
        </p:spPr>
        <p:txBody>
          <a:bodyPr wrap="square" rtlCol="0">
            <a:spAutoFit/>
          </a:bodyPr>
          <a:lstStyle/>
          <a:p>
            <a:r>
              <a:rPr kumimoji="1" lang="en-US" altLang="zh-CN" b="1" dirty="0">
                <a:latin typeface="Lato" panose="020F0502020204030203" pitchFamily="34" charset="0"/>
                <a:ea typeface="Lato" panose="020F0502020204030203" pitchFamily="34" charset="0"/>
                <a:cs typeface="Lato" panose="020F0502020204030203" pitchFamily="34" charset="0"/>
              </a:rPr>
              <a:t>Age factor</a:t>
            </a:r>
          </a:p>
          <a:p>
            <a:r>
              <a:rPr lang="en" altLang="zh-CN" dirty="0">
                <a:latin typeface="Lato" panose="020F0502020204030203" pitchFamily="34" charset="0"/>
                <a:ea typeface="Lato" panose="020F0502020204030203" pitchFamily="34" charset="0"/>
                <a:cs typeface="Lato" panose="020F0502020204030203" pitchFamily="34" charset="0"/>
              </a:rPr>
              <a:t>Age shows a negative relationship with recidivism risk, with younger individuals generally exhibiting a higher probability of reoffending than older individuals.</a:t>
            </a:r>
            <a:endParaRPr kumimoji="1" lang="zh-CN" altLang="en-US" dirty="0">
              <a:latin typeface="Lato" panose="020F0502020204030203" pitchFamily="34" charset="0"/>
              <a:cs typeface="Lato" panose="020F0502020204030203" pitchFamily="34" charset="0"/>
            </a:endParaRPr>
          </a:p>
        </p:txBody>
      </p:sp>
      <p:sp>
        <p:nvSpPr>
          <p:cNvPr id="17" name="文本框 16">
            <a:extLst>
              <a:ext uri="{FF2B5EF4-FFF2-40B4-BE49-F238E27FC236}">
                <a16:creationId xmlns:a16="http://schemas.microsoft.com/office/drawing/2014/main" id="{052FD298-A478-C523-717B-E09AB0759617}"/>
              </a:ext>
            </a:extLst>
          </p:cNvPr>
          <p:cNvSpPr txBox="1"/>
          <p:nvPr/>
        </p:nvSpPr>
        <p:spPr>
          <a:xfrm>
            <a:off x="8890000" y="3752167"/>
            <a:ext cx="2810933" cy="2246769"/>
          </a:xfrm>
          <a:prstGeom prst="rect">
            <a:avLst/>
          </a:prstGeom>
          <a:noFill/>
        </p:spPr>
        <p:txBody>
          <a:bodyPr wrap="square" rtlCol="0">
            <a:spAutoFit/>
          </a:bodyPr>
          <a:lstStyle/>
          <a:p>
            <a:r>
              <a:rPr kumimoji="1" lang="en-US" altLang="zh-CN" b="1" dirty="0">
                <a:latin typeface="Lato" panose="020F0502020204030203" pitchFamily="34" charset="0"/>
                <a:ea typeface="Lato" panose="020F0502020204030203" pitchFamily="34" charset="0"/>
                <a:cs typeface="Lato" panose="020F0502020204030203" pitchFamily="34" charset="0"/>
              </a:rPr>
              <a:t>African-American factor</a:t>
            </a:r>
            <a:r>
              <a:rPr kumimoji="1" lang="en-US" altLang="zh-CN" dirty="0">
                <a:latin typeface="Lato" panose="020F0502020204030203" pitchFamily="34" charset="0"/>
                <a:ea typeface="Lato" panose="020F0502020204030203" pitchFamily="34" charset="0"/>
                <a:cs typeface="Lato" panose="020F0502020204030203" pitchFamily="34" charset="0"/>
              </a:rPr>
              <a:t>:</a:t>
            </a:r>
          </a:p>
          <a:p>
            <a:r>
              <a:rPr kumimoji="1" lang="en-US" altLang="zh-CN" dirty="0">
                <a:latin typeface="Lato" panose="020F0502020204030203" pitchFamily="34" charset="0"/>
                <a:ea typeface="Lato" panose="020F0502020204030203" pitchFamily="34" charset="0"/>
                <a:cs typeface="Lato" panose="020F0502020204030203" pitchFamily="34" charset="0"/>
              </a:rPr>
              <a:t>Significant</a:t>
            </a:r>
            <a:r>
              <a:rPr kumimoji="1" lang="zh-CN" altLang="en-US" dirty="0">
                <a:latin typeface="Lato" panose="020F0502020204030203" pitchFamily="34" charset="0"/>
                <a:cs typeface="Lato" panose="020F0502020204030203" pitchFamily="34" charset="0"/>
              </a:rPr>
              <a:t> </a:t>
            </a:r>
            <a:r>
              <a:rPr kumimoji="1" lang="en-US" altLang="zh-CN" dirty="0">
                <a:latin typeface="Lato" panose="020F0502020204030203" pitchFamily="34" charset="0"/>
                <a:ea typeface="Lato" panose="020F0502020204030203" pitchFamily="34" charset="0"/>
                <a:cs typeface="Lato" panose="020F0502020204030203" pitchFamily="34" charset="0"/>
              </a:rPr>
              <a:t>predictor</a:t>
            </a:r>
            <a:r>
              <a:rPr kumimoji="1" lang="zh-CN" altLang="en-US" dirty="0">
                <a:latin typeface="Lato" panose="020F0502020204030203" pitchFamily="34" charset="0"/>
                <a:cs typeface="Lato" panose="020F0502020204030203" pitchFamily="34" charset="0"/>
              </a:rPr>
              <a:t> </a:t>
            </a:r>
            <a:r>
              <a:rPr kumimoji="1" lang="en-US" altLang="zh-CN" dirty="0">
                <a:latin typeface="Lato" panose="020F0502020204030203" pitchFamily="34" charset="0"/>
                <a:ea typeface="Lato" panose="020F0502020204030203" pitchFamily="34" charset="0"/>
                <a:cs typeface="Lato" panose="020F0502020204030203" pitchFamily="34" charset="0"/>
              </a:rPr>
              <a:t>but</a:t>
            </a:r>
            <a:r>
              <a:rPr kumimoji="1" lang="zh-CN" altLang="en-US" dirty="0">
                <a:latin typeface="Lato" panose="020F0502020204030203" pitchFamily="34" charset="0"/>
                <a:cs typeface="Lato" panose="020F0502020204030203" pitchFamily="34" charset="0"/>
              </a:rPr>
              <a:t> </a:t>
            </a:r>
            <a:r>
              <a:rPr kumimoji="1" lang="en-US" altLang="zh-CN" dirty="0">
                <a:latin typeface="Lato" panose="020F0502020204030203" pitchFamily="34" charset="0"/>
                <a:ea typeface="Lato" panose="020F0502020204030203" pitchFamily="34" charset="0"/>
                <a:cs typeface="Lato" panose="020F0502020204030203" pitchFamily="34" charset="0"/>
              </a:rPr>
              <a:t>not</a:t>
            </a:r>
            <a:r>
              <a:rPr kumimoji="1" lang="zh-CN" altLang="en-US" dirty="0">
                <a:latin typeface="Lato" panose="020F0502020204030203" pitchFamily="34" charset="0"/>
                <a:cs typeface="Lato" panose="020F0502020204030203" pitchFamily="34" charset="0"/>
              </a:rPr>
              <a:t> </a:t>
            </a:r>
            <a:r>
              <a:rPr kumimoji="1" lang="en-US" altLang="zh-CN" dirty="0">
                <a:latin typeface="Lato" panose="020F0502020204030203" pitchFamily="34" charset="0"/>
                <a:ea typeface="Lato" panose="020F0502020204030203" pitchFamily="34" charset="0"/>
                <a:cs typeface="Lato" panose="020F0502020204030203" pitchFamily="34" charset="0"/>
              </a:rPr>
              <a:t>a</a:t>
            </a:r>
            <a:r>
              <a:rPr kumimoji="1" lang="zh-CN" altLang="en-US" dirty="0">
                <a:latin typeface="Lato" panose="020F0502020204030203" pitchFamily="34" charset="0"/>
                <a:cs typeface="Lato" panose="020F0502020204030203" pitchFamily="34" charset="0"/>
              </a:rPr>
              <a:t> </a:t>
            </a:r>
            <a:r>
              <a:rPr kumimoji="1" lang="en-US" altLang="zh-CN" dirty="0">
                <a:latin typeface="Lato" panose="020F0502020204030203" pitchFamily="34" charset="0"/>
                <a:ea typeface="Lato" panose="020F0502020204030203" pitchFamily="34" charset="0"/>
                <a:cs typeface="Lato" panose="020F0502020204030203" pitchFamily="34" charset="0"/>
              </a:rPr>
              <a:t>casual</a:t>
            </a:r>
            <a:r>
              <a:rPr kumimoji="1" lang="zh-CN" altLang="en-US" dirty="0">
                <a:latin typeface="Lato" panose="020F0502020204030203" pitchFamily="34" charset="0"/>
                <a:cs typeface="Lato" panose="020F0502020204030203" pitchFamily="34" charset="0"/>
              </a:rPr>
              <a:t> </a:t>
            </a:r>
            <a:r>
              <a:rPr kumimoji="1" lang="en-US" altLang="zh-CN" dirty="0">
                <a:latin typeface="Lato" panose="020F0502020204030203" pitchFamily="34" charset="0"/>
                <a:ea typeface="Lato" panose="020F0502020204030203" pitchFamily="34" charset="0"/>
                <a:cs typeface="Lato" panose="020F0502020204030203" pitchFamily="34" charset="0"/>
              </a:rPr>
              <a:t>factor.</a:t>
            </a:r>
          </a:p>
          <a:p>
            <a:r>
              <a:rPr lang="en" altLang="zh-CN" dirty="0">
                <a:latin typeface="Lato" panose="020F0502020204030203" pitchFamily="34" charset="0"/>
                <a:ea typeface="Lato" panose="020F0502020204030203" pitchFamily="34" charset="0"/>
                <a:cs typeface="Lato" panose="020F0502020204030203" pitchFamily="34" charset="0"/>
              </a:rPr>
              <a:t>- policing intensity</a:t>
            </a:r>
          </a:p>
          <a:p>
            <a:r>
              <a:rPr lang="en" altLang="zh-CN" dirty="0">
                <a:latin typeface="Lato" panose="020F0502020204030203" pitchFamily="34" charset="0"/>
                <a:ea typeface="Lato" panose="020F0502020204030203" pitchFamily="34" charset="0"/>
                <a:cs typeface="Lato" panose="020F0502020204030203" pitchFamily="34" charset="0"/>
              </a:rPr>
              <a:t>- socioeconomic inequality</a:t>
            </a:r>
          </a:p>
          <a:p>
            <a:endParaRPr lang="en" altLang="zh-CN" dirty="0">
              <a:latin typeface="Lato" panose="020F0502020204030203" pitchFamily="34" charset="0"/>
              <a:ea typeface="Lato" panose="020F0502020204030203" pitchFamily="34" charset="0"/>
              <a:cs typeface="Lato" panose="020F0502020204030203" pitchFamily="34" charset="0"/>
            </a:endParaRPr>
          </a:p>
          <a:p>
            <a:r>
              <a:rPr lang="en" altLang="zh-CN" dirty="0">
                <a:latin typeface="Lato" panose="020F0502020204030203" pitchFamily="34" charset="0"/>
                <a:ea typeface="Lato" panose="020F0502020204030203" pitchFamily="34" charset="0"/>
                <a:cs typeface="Lato" panose="020F0502020204030203" pitchFamily="34" charset="0"/>
              </a:rPr>
              <a:t>Since the model is trained on historical criminal justice data, it may also inherit biases in the system. </a:t>
            </a:r>
          </a:p>
        </p:txBody>
      </p:sp>
    </p:spTree>
    <p:extLst>
      <p:ext uri="{BB962C8B-B14F-4D97-AF65-F5344CB8AC3E}">
        <p14:creationId xmlns:p14="http://schemas.microsoft.com/office/powerpoint/2010/main" val="181571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pic>
        <p:nvPicPr>
          <p:cNvPr id="198" name="Google Shape;198;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9" name="Google Shape;199;p22"/>
          <p:cNvSpPr txBox="1"/>
          <p:nvPr/>
        </p:nvSpPr>
        <p:spPr>
          <a:xfrm>
            <a:off x="1762125" y="2328862"/>
            <a:ext cx="9096375"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0F172A"/>
                </a:solidFill>
                <a:latin typeface="Lato"/>
                <a:ea typeface="Lato"/>
                <a:cs typeface="Lato"/>
                <a:sym typeface="Lato"/>
              </a:rPr>
              <a:t>Parole Request Recommendations:</a:t>
            </a:r>
            <a:r>
              <a:rPr lang="en-US" sz="1800" b="0" i="0" u="none" strike="noStrike" cap="none" dirty="0">
                <a:solidFill>
                  <a:srgbClr val="334155"/>
                </a:solidFill>
                <a:latin typeface="Lato"/>
                <a:ea typeface="Lato"/>
                <a:cs typeface="Lato"/>
                <a:sym typeface="Lato"/>
              </a:rPr>
              <a:t> For defendant ID: 2218, we will recommend the judge granted the parole request.</a:t>
            </a:r>
            <a:endParaRPr sz="1800" dirty="0"/>
          </a:p>
        </p:txBody>
      </p:sp>
      <p:sp>
        <p:nvSpPr>
          <p:cNvPr id="200" name="Google Shape;200;p22"/>
          <p:cNvSpPr txBox="1"/>
          <p:nvPr/>
        </p:nvSpPr>
        <p:spPr>
          <a:xfrm>
            <a:off x="1762125" y="3362851"/>
            <a:ext cx="9447742"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0F172A"/>
                </a:solidFill>
                <a:latin typeface="Lato"/>
                <a:ea typeface="Lato"/>
                <a:cs typeface="Lato"/>
                <a:sym typeface="Lato"/>
              </a:rPr>
              <a:t>Aligning with the COMPAS Score:</a:t>
            </a:r>
            <a:r>
              <a:rPr lang="en-US" sz="1800" b="0" i="0" u="none" strike="noStrike" cap="none" dirty="0">
                <a:solidFill>
                  <a:srgbClr val="334155"/>
                </a:solidFill>
                <a:latin typeface="Lato"/>
                <a:ea typeface="Lato"/>
                <a:cs typeface="Lato"/>
                <a:sym typeface="Lato"/>
              </a:rPr>
              <a:t> 0.33/1 vs 2/10. Our results are consistent with COMPAS.</a:t>
            </a:r>
            <a:endParaRPr sz="1800" dirty="0"/>
          </a:p>
        </p:txBody>
      </p:sp>
      <p:sp>
        <p:nvSpPr>
          <p:cNvPr id="201" name="Google Shape;201;p22"/>
          <p:cNvSpPr txBox="1"/>
          <p:nvPr/>
        </p:nvSpPr>
        <p:spPr>
          <a:xfrm>
            <a:off x="1762125" y="4024312"/>
            <a:ext cx="9096375"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0F172A"/>
                </a:solidFill>
                <a:latin typeface="Lato"/>
                <a:ea typeface="Lato"/>
                <a:cs typeface="Lato"/>
                <a:sym typeface="Lato"/>
              </a:rPr>
              <a:t>Resolving Model Disagreements:</a:t>
            </a:r>
            <a:r>
              <a:rPr lang="en-US" sz="1800" b="0" i="0" u="none" strike="noStrike" cap="none" dirty="0">
                <a:solidFill>
                  <a:srgbClr val="334155"/>
                </a:solidFill>
                <a:latin typeface="Lato"/>
                <a:ea typeface="Lato"/>
                <a:cs typeface="Lato"/>
                <a:sym typeface="Lato"/>
              </a:rPr>
              <a:t> If our model contradicts the COMPAS conclusion, </a:t>
            </a:r>
            <a:r>
              <a:rPr lang="en-US" sz="1800" b="1" i="0" u="none" strike="noStrike" cap="none" dirty="0">
                <a:solidFill>
                  <a:srgbClr val="0F172A"/>
                </a:solidFill>
                <a:latin typeface="Lato"/>
                <a:ea typeface="Lato"/>
                <a:cs typeface="Lato"/>
                <a:sym typeface="Lato"/>
              </a:rPr>
              <a:t>we strongly </a:t>
            </a:r>
            <a:r>
              <a:rPr lang="en-US" sz="1800" b="1" dirty="0">
                <a:solidFill>
                  <a:srgbClr val="0F172A"/>
                </a:solidFill>
                <a:latin typeface="Lato"/>
                <a:ea typeface="Lato"/>
                <a:cs typeface="Lato"/>
                <a:sym typeface="Lato"/>
              </a:rPr>
              <a:t>advice</a:t>
            </a:r>
            <a:r>
              <a:rPr lang="zh-CN" altLang="en-US" sz="1800" b="1" dirty="0">
                <a:solidFill>
                  <a:srgbClr val="0F172A"/>
                </a:solidFill>
                <a:latin typeface="Lato"/>
                <a:ea typeface="Lato"/>
                <a:cs typeface="Lato"/>
                <a:sym typeface="Lato"/>
              </a:rPr>
              <a:t> </a:t>
            </a:r>
            <a:r>
              <a:rPr lang="en-US" altLang="zh-CN" sz="1800" b="1" dirty="0">
                <a:solidFill>
                  <a:srgbClr val="0F172A"/>
                </a:solidFill>
                <a:latin typeface="Lato"/>
                <a:ea typeface="Lato"/>
                <a:cs typeface="Lato"/>
                <a:sym typeface="Lato"/>
              </a:rPr>
              <a:t>you m</a:t>
            </a:r>
            <a:r>
              <a:rPr lang="en-US" sz="1800" b="1" i="0" u="none" strike="noStrike" cap="none" dirty="0">
                <a:solidFill>
                  <a:srgbClr val="0F172A"/>
                </a:solidFill>
                <a:latin typeface="Lato"/>
                <a:ea typeface="Lato"/>
                <a:cs typeface="Lato"/>
                <a:sym typeface="Lato"/>
              </a:rPr>
              <a:t>ake inferences based on our predictions</a:t>
            </a:r>
            <a:r>
              <a:rPr lang="en-US" sz="1800" b="0" i="0" u="none" strike="noStrike" cap="none" dirty="0">
                <a:solidFill>
                  <a:srgbClr val="334155"/>
                </a:solidFill>
                <a:latin typeface="Lato"/>
                <a:ea typeface="Lato"/>
                <a:cs typeface="Lato"/>
                <a:sym typeface="Lato"/>
              </a:rPr>
              <a:t>. It maintains equivalent predictive accuracy while actively suppressing systemic racial misclassification bias.</a:t>
            </a:r>
            <a:endParaRPr sz="1800" dirty="0"/>
          </a:p>
        </p:txBody>
      </p:sp>
      <p:sp>
        <p:nvSpPr>
          <p:cNvPr id="205" name="Google Shape;205;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1E3A8A"/>
                </a:solidFill>
                <a:latin typeface="Poppins"/>
                <a:ea typeface="Poppins"/>
                <a:cs typeface="Poppins"/>
                <a:sym typeface="Poppins"/>
              </a:rPr>
              <a:t>Final Recommendations &amp; Alignment</a:t>
            </a:r>
            <a:endParaRPr dirty="0"/>
          </a:p>
        </p:txBody>
      </p:sp>
      <p:pic>
        <p:nvPicPr>
          <p:cNvPr id="2" name="图片 1">
            <a:extLst>
              <a:ext uri="{FF2B5EF4-FFF2-40B4-BE49-F238E27FC236}">
                <a16:creationId xmlns:a16="http://schemas.microsoft.com/office/drawing/2014/main" id="{A99A8093-2560-56A0-E514-61ACEDF11396}"/>
              </a:ext>
            </a:extLst>
          </p:cNvPr>
          <p:cNvPicPr>
            <a:picLocks noChangeAspect="1"/>
          </p:cNvPicPr>
          <p:nvPr/>
        </p:nvPicPr>
        <p:blipFill>
          <a:blip r:embed="rId4"/>
          <a:stretch>
            <a:fillRect/>
          </a:stretch>
        </p:blipFill>
        <p:spPr>
          <a:xfrm>
            <a:off x="4248150" y="1343311"/>
            <a:ext cx="3695700" cy="952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
        <p:cNvGrpSpPr/>
        <p:nvPr/>
      </p:nvGrpSpPr>
      <p:grpSpPr>
        <a:xfrm>
          <a:off x="0" y="0"/>
          <a:ext cx="0" cy="0"/>
          <a:chOff x="0" y="0"/>
          <a:chExt cx="0" cy="0"/>
        </a:xfrm>
      </p:grpSpPr>
      <p:pic>
        <p:nvPicPr>
          <p:cNvPr id="210" name="Google Shape;21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1" name="Google Shape;211;p23"/>
          <p:cNvSpPr txBox="1"/>
          <p:nvPr/>
        </p:nvSpPr>
        <p:spPr>
          <a:xfrm>
            <a:off x="295275" y="2264122"/>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1E3A8A"/>
                </a:solidFill>
                <a:latin typeface="Poppins"/>
                <a:ea typeface="Poppins"/>
                <a:cs typeface="Poppins"/>
                <a:sym typeface="Poppins"/>
              </a:rPr>
              <a:t>Questions?</a:t>
            </a:r>
            <a:endParaRPr/>
          </a:p>
        </p:txBody>
      </p:sp>
      <p:sp>
        <p:nvSpPr>
          <p:cNvPr id="212" name="Google Shape;212;p23"/>
          <p:cNvSpPr txBox="1"/>
          <p:nvPr/>
        </p:nvSpPr>
        <p:spPr>
          <a:xfrm>
            <a:off x="571500" y="3597622"/>
            <a:ext cx="11049000" cy="85338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334155"/>
                </a:solidFill>
                <a:latin typeface="Lato"/>
                <a:ea typeface="Lato"/>
                <a:cs typeface="Lato"/>
                <a:sym typeface="Lato"/>
              </a:rPr>
              <a:t>Thank you for your attention. We welcome any questions regarding the model architecture or fairness metrics.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897</Words>
  <Application>Microsoft Macintosh PowerPoint</Application>
  <PresentationFormat>宽屏</PresentationFormat>
  <Paragraphs>91</Paragraphs>
  <Slides>13</Slides>
  <Notes>13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13</vt:i4>
      </vt:variant>
    </vt:vector>
  </HeadingPairs>
  <TitlesOfParts>
    <vt:vector size="19" baseType="lpstr">
      <vt:lpstr>Poppins SemiBold</vt:lpstr>
      <vt:lpstr>Lato</vt:lpstr>
      <vt:lpstr>Poppins</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Du, Yuhang</cp:lastModifiedBy>
  <cp:revision>2</cp:revision>
  <dcterms:modified xsi:type="dcterms:W3CDTF">2026-03-08T02:40:57Z</dcterms:modified>
</cp:coreProperties>
</file>